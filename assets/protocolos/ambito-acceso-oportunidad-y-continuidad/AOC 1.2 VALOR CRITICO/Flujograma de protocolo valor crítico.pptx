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7" r:id="rId4"/>
    <p:sldId id="268" r:id="rId5"/>
    <p:sldId id="257" r:id="rId6"/>
    <p:sldId id="259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356B5-4C6A-46B8-A112-1FAB74CD5078}" type="datetimeFigureOut">
              <a:rPr lang="es-CL" smtClean="0"/>
              <a:t>18-12-2025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7B809-37BF-45F9-9D59-803D6BBC17C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54385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356B5-4C6A-46B8-A112-1FAB74CD5078}" type="datetimeFigureOut">
              <a:rPr lang="es-CL" smtClean="0"/>
              <a:t>18-12-2025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7B809-37BF-45F9-9D59-803D6BBC17C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58794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356B5-4C6A-46B8-A112-1FAB74CD5078}" type="datetimeFigureOut">
              <a:rPr lang="es-CL" smtClean="0"/>
              <a:t>18-12-2025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7B809-37BF-45F9-9D59-803D6BBC17C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76669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356B5-4C6A-46B8-A112-1FAB74CD5078}" type="datetimeFigureOut">
              <a:rPr lang="es-CL" smtClean="0"/>
              <a:t>18-12-2025</a:t>
            </a:fld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7B809-37BF-45F9-9D59-803D6BBC17C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78665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356B5-4C6A-46B8-A112-1FAB74CD5078}" type="datetimeFigureOut">
              <a:rPr lang="es-CL" smtClean="0"/>
              <a:t>18-12-2025</a:t>
            </a:fld>
            <a:endParaRPr lang="es-CL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7B809-37BF-45F9-9D59-803D6BBC17C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35369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356B5-4C6A-46B8-A112-1FAB74CD5078}" type="datetimeFigureOut">
              <a:rPr lang="es-CL" smtClean="0"/>
              <a:t>18-12-2025</a:t>
            </a:fld>
            <a:endParaRPr lang="es-CL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7B809-37BF-45F9-9D59-803D6BBC17C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14366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356B5-4C6A-46B8-A112-1FAB74CD5078}" type="datetimeFigureOut">
              <a:rPr lang="es-CL" smtClean="0"/>
              <a:t>18-12-2025</a:t>
            </a:fld>
            <a:endParaRPr lang="es-CL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7B809-37BF-45F9-9D59-803D6BBC17C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46395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356B5-4C6A-46B8-A112-1FAB74CD5078}" type="datetimeFigureOut">
              <a:rPr lang="es-CL" smtClean="0"/>
              <a:t>18-12-2025</a:t>
            </a:fld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7B809-37BF-45F9-9D59-803D6BBC17C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40499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356B5-4C6A-46B8-A112-1FAB74CD5078}" type="datetimeFigureOut">
              <a:rPr lang="es-CL" smtClean="0"/>
              <a:t>18-12-2025</a:t>
            </a:fld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7B809-37BF-45F9-9D59-803D6BBC17C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21663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356B5-4C6A-46B8-A112-1FAB74CD5078}" type="datetimeFigureOut">
              <a:rPr lang="es-CL" smtClean="0"/>
              <a:t>18-12-2025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7B809-37BF-45F9-9D59-803D6BBC17C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36380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356B5-4C6A-46B8-A112-1FAB74CD5078}" type="datetimeFigureOut">
              <a:rPr lang="es-CL" smtClean="0"/>
              <a:t>18-12-2025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7B809-37BF-45F9-9D59-803D6BBC17C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79129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0356B5-4C6A-46B8-A112-1FAB74CD5078}" type="datetimeFigureOut">
              <a:rPr lang="es-CL" smtClean="0"/>
              <a:t>18-12-2025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77B809-37BF-45F9-9D59-803D6BBC17C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25668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497875" y="1631815"/>
            <a:ext cx="9144000" cy="2387600"/>
          </a:xfrm>
        </p:spPr>
        <p:txBody>
          <a:bodyPr/>
          <a:lstStyle/>
          <a:p>
            <a:r>
              <a:rPr lang="es-CL" dirty="0"/>
              <a:t>Flujograma de protocolo valor crítico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634343" y="4999764"/>
            <a:ext cx="9144000" cy="1655762"/>
          </a:xfrm>
        </p:spPr>
        <p:txBody>
          <a:bodyPr/>
          <a:lstStyle/>
          <a:p>
            <a:r>
              <a:rPr lang="es-CL" dirty="0"/>
              <a:t>Unidad de Calidad CESFAM Dr. Orlando </a:t>
            </a:r>
            <a:r>
              <a:rPr lang="es-CL" dirty="0" err="1"/>
              <a:t>Leyton</a:t>
            </a:r>
            <a:r>
              <a:rPr lang="es-CL" dirty="0"/>
              <a:t> A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479" y="334420"/>
            <a:ext cx="2955744" cy="1614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56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 rot="5400000" flipH="1" flipV="1">
            <a:off x="-4757988" y="-225178"/>
            <a:ext cx="10515600" cy="1325563"/>
          </a:xfrm>
        </p:spPr>
        <p:txBody>
          <a:bodyPr>
            <a:normAutofit/>
          </a:bodyPr>
          <a:lstStyle/>
          <a:p>
            <a:r>
              <a:rPr lang="es-CL" sz="3200" dirty="0"/>
              <a:t>Valores críticos laboratorio</a:t>
            </a:r>
          </a:p>
        </p:txBody>
      </p:sp>
      <p:graphicFrame>
        <p:nvGraphicFramePr>
          <p:cNvPr id="4" name="Marcador de conteni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878818"/>
              </p:ext>
            </p:extLst>
          </p:nvPr>
        </p:nvGraphicFramePr>
        <p:xfrm>
          <a:off x="992777" y="326569"/>
          <a:ext cx="10747873" cy="6251848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3062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3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45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45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819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72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6474"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1050" dirty="0">
                          <a:effectLst/>
                        </a:rPr>
                        <a:t> </a:t>
                      </a:r>
                      <a:endParaRPr lang="es-CL" sz="12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1050" dirty="0">
                          <a:effectLst/>
                        </a:rPr>
                        <a:t>EXAMEN</a:t>
                      </a:r>
                      <a:endParaRPr lang="es-CL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14" marR="45014" marT="0" marB="0"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1050" dirty="0">
                          <a:effectLst/>
                        </a:rPr>
                        <a:t>VALOR CRÍTICO BAJO</a:t>
                      </a:r>
                      <a:endParaRPr lang="es-CL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14" marR="45014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1050">
                          <a:effectLst/>
                        </a:rPr>
                        <a:t>VALOR CRÍTICO ALTO</a:t>
                      </a:r>
                      <a:endParaRPr lang="es-CL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14" marR="45014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1050" dirty="0">
                          <a:effectLst/>
                        </a:rPr>
                        <a:t>TIEMPO MÁXIMO DE NOTIFICACIÓN DE LABORATORIO A PROFESIONAL/UNIDAD</a:t>
                      </a:r>
                      <a:endParaRPr lang="es-CL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14" marR="45014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1050">
                          <a:effectLst/>
                        </a:rPr>
                        <a:t>TIEMPO MÁXIMO DE ATENCIÓN EFECTIVA</a:t>
                      </a:r>
                      <a:endParaRPr lang="es-CL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14" marR="45014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174">
                <a:tc row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1000" dirty="0">
                          <a:effectLst/>
                        </a:rPr>
                        <a:t>HEMATOLOGÍA</a:t>
                      </a:r>
                      <a:endParaRPr lang="es-CL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14" marR="4501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_tradnl" sz="1400" dirty="0">
                          <a:effectLst/>
                        </a:rPr>
                        <a:t>Hematocrito adulto</a:t>
                      </a:r>
                      <a:endParaRPr lang="es-C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14" marR="4501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_tradnl" sz="1400" dirty="0">
                          <a:effectLst/>
                        </a:rPr>
                        <a:t>&lt;20%</a:t>
                      </a:r>
                      <a:endParaRPr lang="es-C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14" marR="4501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_tradnl" sz="1400" dirty="0">
                          <a:effectLst/>
                        </a:rPr>
                        <a:t>&gt;60%</a:t>
                      </a:r>
                      <a:endParaRPr lang="es-C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14" marR="4501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_tradnl" sz="1600" dirty="0">
                          <a:effectLst/>
                        </a:rPr>
                        <a:t>8 horas</a:t>
                      </a:r>
                      <a:endParaRPr lang="es-CL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14" marR="4501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_tradnl" sz="1100" dirty="0">
                          <a:effectLst/>
                        </a:rPr>
                        <a:t>5 días hábiles</a:t>
                      </a:r>
                      <a:endParaRPr lang="es-CL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14" marR="45014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174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_tradnl" sz="1400" dirty="0">
                          <a:effectLst/>
                        </a:rPr>
                        <a:t>Hemoglobina adulto</a:t>
                      </a:r>
                      <a:endParaRPr lang="es-C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14" marR="4501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_tradnl" sz="1400" dirty="0">
                          <a:effectLst/>
                        </a:rPr>
                        <a:t>≤ 7g/dl</a:t>
                      </a:r>
                      <a:endParaRPr lang="es-C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14" marR="4501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_tradnl" sz="1400" dirty="0">
                          <a:effectLst/>
                        </a:rPr>
                        <a:t>&gt;20 g/dl</a:t>
                      </a:r>
                      <a:endParaRPr lang="es-C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14" marR="4501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_tradnl" sz="1600" dirty="0">
                          <a:effectLst/>
                        </a:rPr>
                        <a:t>8 horas</a:t>
                      </a:r>
                      <a:endParaRPr lang="es-CL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14" marR="4501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_tradnl" sz="1100" dirty="0">
                          <a:effectLst/>
                        </a:rPr>
                        <a:t>5 días hábiles </a:t>
                      </a:r>
                      <a:endParaRPr lang="es-CL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14" marR="45014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174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_tradnl" sz="1400" dirty="0">
                          <a:effectLst/>
                        </a:rPr>
                        <a:t>Recuento Leucocitos adultos</a:t>
                      </a:r>
                      <a:endParaRPr lang="es-C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14" marR="4501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_tradnl" sz="1400" dirty="0">
                          <a:effectLst/>
                        </a:rPr>
                        <a:t>&lt;2.000/</a:t>
                      </a:r>
                      <a:r>
                        <a:rPr lang="es-ES_tradnl" sz="1400" dirty="0" err="1">
                          <a:effectLst/>
                        </a:rPr>
                        <a:t>uL</a:t>
                      </a:r>
                      <a:endParaRPr lang="es-C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14" marR="4501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_tradnl" sz="1400" dirty="0">
                          <a:effectLst/>
                        </a:rPr>
                        <a:t>&gt;50.000/</a:t>
                      </a:r>
                      <a:r>
                        <a:rPr lang="es-ES_tradnl" sz="1400" dirty="0" err="1">
                          <a:effectLst/>
                        </a:rPr>
                        <a:t>uL</a:t>
                      </a:r>
                      <a:endParaRPr lang="es-C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14" marR="45014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1600" dirty="0">
                          <a:effectLst/>
                        </a:rPr>
                        <a:t>8 horas</a:t>
                      </a:r>
                      <a:endParaRPr lang="es-CL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14" marR="45014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1100" dirty="0">
                          <a:effectLst/>
                        </a:rPr>
                        <a:t>5 días hábiles</a:t>
                      </a:r>
                      <a:endParaRPr lang="es-CL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14" marR="45014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365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_tradnl" sz="1400" dirty="0">
                          <a:effectLst/>
                        </a:rPr>
                        <a:t>Recuento de plaquetas</a:t>
                      </a:r>
                      <a:endParaRPr lang="es-C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14" marR="4501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_tradnl" sz="1400" dirty="0">
                          <a:effectLst/>
                        </a:rPr>
                        <a:t>&lt;50.000/</a:t>
                      </a:r>
                      <a:r>
                        <a:rPr lang="es-ES_tradnl" sz="1400" dirty="0" err="1">
                          <a:effectLst/>
                        </a:rPr>
                        <a:t>uL</a:t>
                      </a:r>
                      <a:endParaRPr lang="es-C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14" marR="4501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_tradnl" sz="1400" dirty="0">
                          <a:effectLst/>
                        </a:rPr>
                        <a:t>&gt;900.000/</a:t>
                      </a:r>
                      <a:r>
                        <a:rPr lang="es-ES_tradnl" sz="1400" dirty="0" err="1">
                          <a:effectLst/>
                        </a:rPr>
                        <a:t>uL</a:t>
                      </a:r>
                      <a:endParaRPr lang="es-C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14" marR="45014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1600" dirty="0">
                          <a:effectLst/>
                        </a:rPr>
                        <a:t>8 horas</a:t>
                      </a:r>
                      <a:endParaRPr lang="es-CL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14" marR="45014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1100" dirty="0">
                          <a:effectLst/>
                        </a:rPr>
                        <a:t>5 días hábiles</a:t>
                      </a:r>
                      <a:endParaRPr lang="es-CL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14" marR="45014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174">
                <a:tc rowSpan="9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1000">
                          <a:effectLst/>
                        </a:rPr>
                        <a:t>BIOQUIMICA</a:t>
                      </a:r>
                      <a:endParaRPr lang="es-CL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14" marR="4501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_tradnl" sz="1400" dirty="0">
                          <a:effectLst/>
                        </a:rPr>
                        <a:t>Ácido Úrico en embarazadas</a:t>
                      </a:r>
                      <a:endParaRPr lang="es-C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14" marR="4501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_tradnl" sz="1400" dirty="0">
                          <a:effectLst/>
                        </a:rPr>
                        <a:t>__</a:t>
                      </a:r>
                      <a:endParaRPr lang="es-C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14" marR="45014" marT="0" marB="0" anchor="ctr"/>
                </a:tc>
                <a:tc>
                  <a:txBody>
                    <a:bodyPr/>
                    <a:lstStyle/>
                    <a:p>
                      <a:pPr marL="11049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_tradnl" sz="1400" dirty="0">
                          <a:effectLst/>
                        </a:rPr>
                        <a:t>&gt;8.0 mg/dl</a:t>
                      </a:r>
                      <a:endParaRPr lang="es-C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14" marR="45014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1600" dirty="0">
                          <a:effectLst/>
                        </a:rPr>
                        <a:t>8 horas</a:t>
                      </a:r>
                      <a:endParaRPr lang="es-CL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14" marR="45014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1100" dirty="0">
                          <a:effectLst/>
                        </a:rPr>
                        <a:t>5 días hábiles</a:t>
                      </a:r>
                      <a:endParaRPr lang="es-CL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14" marR="45014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365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_tradnl" sz="1400" dirty="0">
                          <a:effectLst/>
                        </a:rPr>
                        <a:t>Ácido Úrico</a:t>
                      </a:r>
                      <a:endParaRPr lang="es-C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14" marR="4501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_tradnl" sz="1400" dirty="0">
                          <a:effectLst/>
                        </a:rPr>
                        <a:t>__</a:t>
                      </a:r>
                      <a:endParaRPr lang="es-C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14" marR="45014" marT="0" marB="0" anchor="ctr"/>
                </a:tc>
                <a:tc>
                  <a:txBody>
                    <a:bodyPr/>
                    <a:lstStyle/>
                    <a:p>
                      <a:pPr marL="11049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_tradnl" sz="1400" dirty="0">
                          <a:effectLst/>
                        </a:rPr>
                        <a:t>&gt;13.0 mg/dl</a:t>
                      </a:r>
                      <a:endParaRPr lang="es-C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14" marR="45014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1600" dirty="0">
                          <a:effectLst/>
                        </a:rPr>
                        <a:t>8 horas</a:t>
                      </a:r>
                      <a:endParaRPr lang="es-CL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14" marR="45014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1100" dirty="0">
                          <a:effectLst/>
                        </a:rPr>
                        <a:t>5 días hábiles</a:t>
                      </a:r>
                      <a:endParaRPr lang="es-CL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14" marR="45014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365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_tradnl" sz="1400" dirty="0">
                          <a:effectLst/>
                        </a:rPr>
                        <a:t>Cloro</a:t>
                      </a:r>
                      <a:endParaRPr lang="es-C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14" marR="4501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_tradnl" sz="1400" dirty="0">
                          <a:effectLst/>
                        </a:rPr>
                        <a:t>&lt;75 </a:t>
                      </a:r>
                      <a:r>
                        <a:rPr lang="es-ES_tradnl" sz="1400" dirty="0" err="1">
                          <a:effectLst/>
                        </a:rPr>
                        <a:t>mEq</a:t>
                      </a:r>
                      <a:r>
                        <a:rPr lang="es-ES_tradnl" sz="1400" dirty="0">
                          <a:effectLst/>
                        </a:rPr>
                        <a:t>/L</a:t>
                      </a:r>
                      <a:endParaRPr lang="es-C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14" marR="45014" marT="0" marB="0" anchor="ctr"/>
                </a:tc>
                <a:tc>
                  <a:txBody>
                    <a:bodyPr/>
                    <a:lstStyle/>
                    <a:p>
                      <a:pPr marL="20955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_tradnl" sz="1400" dirty="0">
                          <a:effectLst/>
                        </a:rPr>
                        <a:t>&gt;125 </a:t>
                      </a:r>
                      <a:r>
                        <a:rPr lang="es-ES_tradnl" sz="1400" dirty="0" err="1">
                          <a:effectLst/>
                        </a:rPr>
                        <a:t>mEq</a:t>
                      </a:r>
                      <a:r>
                        <a:rPr lang="es-ES_tradnl" sz="1400" dirty="0">
                          <a:effectLst/>
                        </a:rPr>
                        <a:t>/L</a:t>
                      </a:r>
                      <a:endParaRPr lang="es-C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14" marR="45014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1600" dirty="0">
                          <a:effectLst/>
                        </a:rPr>
                        <a:t>8 horas</a:t>
                      </a:r>
                      <a:endParaRPr lang="es-CL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14" marR="45014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1100" dirty="0">
                          <a:effectLst/>
                        </a:rPr>
                        <a:t>5 días hábiles</a:t>
                      </a:r>
                      <a:endParaRPr lang="es-CL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14" marR="45014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365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_tradnl" sz="1400" dirty="0">
                          <a:effectLst/>
                        </a:rPr>
                        <a:t>Creatinina</a:t>
                      </a:r>
                      <a:endParaRPr lang="es-C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14" marR="4501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_tradnl" sz="1400" dirty="0">
                          <a:effectLst/>
                        </a:rPr>
                        <a:t>__</a:t>
                      </a:r>
                      <a:endParaRPr lang="es-C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14" marR="4501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_tradnl" sz="1400" dirty="0">
                          <a:effectLst/>
                        </a:rPr>
                        <a:t>≥ 4.0 mg/dl</a:t>
                      </a:r>
                      <a:endParaRPr lang="es-C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14" marR="45014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1600" dirty="0">
                          <a:effectLst/>
                        </a:rPr>
                        <a:t>8 horas</a:t>
                      </a:r>
                      <a:endParaRPr lang="es-CL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14" marR="45014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1100" dirty="0">
                          <a:effectLst/>
                        </a:rPr>
                        <a:t>5 días hábiles</a:t>
                      </a:r>
                      <a:endParaRPr lang="es-CL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14" marR="45014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365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_tradnl" sz="1400" dirty="0">
                          <a:effectLst/>
                        </a:rPr>
                        <a:t>Glucosa adultos</a:t>
                      </a:r>
                      <a:endParaRPr lang="es-C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14" marR="4501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_tradnl" sz="1400" dirty="0">
                          <a:effectLst/>
                        </a:rPr>
                        <a:t>≤50 mg/dl</a:t>
                      </a:r>
                      <a:endParaRPr lang="es-C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14" marR="4501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_tradnl" sz="1400" dirty="0">
                          <a:effectLst/>
                        </a:rPr>
                        <a:t>&gt; 500 mg/dl</a:t>
                      </a:r>
                      <a:endParaRPr lang="es-C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14" marR="45014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1600" dirty="0">
                          <a:effectLst/>
                        </a:rPr>
                        <a:t>8 horas</a:t>
                      </a:r>
                      <a:endParaRPr lang="es-CL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14" marR="45014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1100" dirty="0">
                          <a:effectLst/>
                        </a:rPr>
                        <a:t>5 días hábiles</a:t>
                      </a:r>
                      <a:endParaRPr lang="es-CL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14" marR="45014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365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_tradnl" sz="1400" dirty="0">
                          <a:effectLst/>
                        </a:rPr>
                        <a:t>Urea</a:t>
                      </a:r>
                      <a:endParaRPr lang="es-C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14" marR="4501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_tradnl" sz="1400" dirty="0">
                          <a:effectLst/>
                        </a:rPr>
                        <a:t>__</a:t>
                      </a:r>
                      <a:endParaRPr lang="es-C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14" marR="4501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_tradnl" sz="1400" dirty="0">
                          <a:effectLst/>
                        </a:rPr>
                        <a:t>&gt;100 mg/dl</a:t>
                      </a:r>
                      <a:endParaRPr lang="es-C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14" marR="45014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1600" dirty="0">
                          <a:effectLst/>
                        </a:rPr>
                        <a:t>8 horas</a:t>
                      </a:r>
                      <a:endParaRPr lang="es-CL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14" marR="45014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1100" dirty="0">
                          <a:effectLst/>
                        </a:rPr>
                        <a:t>5 días hábiles</a:t>
                      </a:r>
                      <a:endParaRPr lang="es-CL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14" marR="45014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2365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_tradnl" sz="1400" dirty="0">
                          <a:effectLst/>
                        </a:rPr>
                        <a:t>Sodio</a:t>
                      </a:r>
                      <a:endParaRPr lang="es-C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14" marR="4501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_tradnl" sz="1400" dirty="0">
                          <a:effectLst/>
                        </a:rPr>
                        <a:t>≤125 </a:t>
                      </a:r>
                      <a:r>
                        <a:rPr lang="es-ES_tradnl" sz="1400" dirty="0" err="1">
                          <a:effectLst/>
                        </a:rPr>
                        <a:t>mEq</a:t>
                      </a:r>
                      <a:r>
                        <a:rPr lang="es-ES_tradnl" sz="1400" dirty="0">
                          <a:effectLst/>
                        </a:rPr>
                        <a:t>/L</a:t>
                      </a:r>
                      <a:endParaRPr lang="es-C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14" marR="4501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_tradnl" sz="1400" dirty="0">
                          <a:effectLst/>
                        </a:rPr>
                        <a:t>≥160 </a:t>
                      </a:r>
                      <a:r>
                        <a:rPr lang="es-ES_tradnl" sz="1400" dirty="0" err="1">
                          <a:effectLst/>
                        </a:rPr>
                        <a:t>mEq</a:t>
                      </a:r>
                      <a:r>
                        <a:rPr lang="es-ES_tradnl" sz="1400" dirty="0">
                          <a:effectLst/>
                        </a:rPr>
                        <a:t>/L</a:t>
                      </a:r>
                      <a:endParaRPr lang="es-C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14" marR="45014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1600" dirty="0">
                          <a:effectLst/>
                        </a:rPr>
                        <a:t>8 horas</a:t>
                      </a:r>
                      <a:endParaRPr lang="es-CL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14" marR="45014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1100" dirty="0">
                          <a:effectLst/>
                        </a:rPr>
                        <a:t>5 días hábiles</a:t>
                      </a:r>
                      <a:endParaRPr lang="es-CL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14" marR="45014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2365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_tradnl" sz="1400" dirty="0">
                          <a:effectLst/>
                        </a:rPr>
                        <a:t>Potasio</a:t>
                      </a:r>
                      <a:endParaRPr lang="es-C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14" marR="4501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_tradnl" sz="1400" dirty="0">
                          <a:effectLst/>
                        </a:rPr>
                        <a:t>≤ 3 </a:t>
                      </a:r>
                      <a:r>
                        <a:rPr lang="es-ES_tradnl" sz="1400" dirty="0" err="1">
                          <a:effectLst/>
                        </a:rPr>
                        <a:t>mEq</a:t>
                      </a:r>
                      <a:r>
                        <a:rPr lang="es-ES_tradnl" sz="1400" dirty="0">
                          <a:effectLst/>
                        </a:rPr>
                        <a:t>/L</a:t>
                      </a:r>
                      <a:endParaRPr lang="es-C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14" marR="4501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_tradnl" sz="1400" dirty="0">
                          <a:effectLst/>
                        </a:rPr>
                        <a:t>≥6.0 </a:t>
                      </a:r>
                      <a:r>
                        <a:rPr lang="es-ES_tradnl" sz="1400" dirty="0" err="1">
                          <a:effectLst/>
                        </a:rPr>
                        <a:t>mEq</a:t>
                      </a:r>
                      <a:r>
                        <a:rPr lang="es-ES_tradnl" sz="1400" dirty="0">
                          <a:effectLst/>
                        </a:rPr>
                        <a:t>/L</a:t>
                      </a:r>
                      <a:endParaRPr lang="es-C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14" marR="45014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1600" dirty="0">
                          <a:effectLst/>
                        </a:rPr>
                        <a:t>8 horas</a:t>
                      </a:r>
                      <a:endParaRPr lang="es-CL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14" marR="45014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1100" dirty="0">
                          <a:effectLst/>
                        </a:rPr>
                        <a:t>5 días hábiles</a:t>
                      </a:r>
                      <a:endParaRPr lang="es-CL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14" marR="45014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2365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_tradnl" sz="1400" dirty="0">
                          <a:effectLst/>
                        </a:rPr>
                        <a:t>Triglicéridos</a:t>
                      </a:r>
                      <a:endParaRPr lang="es-C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14" marR="4501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_tradnl" sz="1400" dirty="0">
                          <a:effectLst/>
                        </a:rPr>
                        <a:t>__</a:t>
                      </a:r>
                      <a:endParaRPr lang="es-C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14" marR="45014" marT="0" marB="0" anchor="ctr"/>
                </a:tc>
                <a:tc>
                  <a:txBody>
                    <a:bodyPr/>
                    <a:lstStyle/>
                    <a:p>
                      <a:pPr marL="11811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_tradnl" sz="1400" dirty="0">
                          <a:effectLst/>
                        </a:rPr>
                        <a:t>&gt;1500 mg/dl</a:t>
                      </a:r>
                      <a:endParaRPr lang="es-C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14" marR="45014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1600" dirty="0">
                          <a:effectLst/>
                        </a:rPr>
                        <a:t>8 horas</a:t>
                      </a:r>
                      <a:endParaRPr lang="es-CL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14" marR="45014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1100" dirty="0">
                          <a:effectLst/>
                        </a:rPr>
                        <a:t>5 días hábiles</a:t>
                      </a:r>
                      <a:endParaRPr lang="es-CL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14" marR="45014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236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_tradnl" sz="1000" dirty="0">
                          <a:effectLst/>
                        </a:rPr>
                        <a:t>       HORMONALES </a:t>
                      </a:r>
                      <a:endParaRPr lang="es-CL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14" marR="4501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_tradnl" sz="1400" dirty="0">
                          <a:effectLst/>
                        </a:rPr>
                        <a:t>TSH</a:t>
                      </a:r>
                      <a:endParaRPr lang="es-C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14" marR="4501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_tradnl" sz="1400" dirty="0">
                          <a:effectLst/>
                        </a:rPr>
                        <a:t>__</a:t>
                      </a:r>
                      <a:endParaRPr lang="es-C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14" marR="4501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_tradnl" sz="1400" dirty="0">
                          <a:effectLst/>
                        </a:rPr>
                        <a:t>&gt;100 </a:t>
                      </a:r>
                      <a:r>
                        <a:rPr lang="es-ES_tradnl" sz="1400" dirty="0" err="1">
                          <a:effectLst/>
                        </a:rPr>
                        <a:t>mUI</a:t>
                      </a:r>
                      <a:r>
                        <a:rPr lang="es-ES_tradnl" sz="1400" dirty="0">
                          <a:effectLst/>
                        </a:rPr>
                        <a:t>/L</a:t>
                      </a:r>
                      <a:endParaRPr lang="es-C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14" marR="45014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1600" dirty="0">
                          <a:effectLst/>
                        </a:rPr>
                        <a:t>8 horas</a:t>
                      </a:r>
                      <a:endParaRPr lang="es-CL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14" marR="45014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1100" dirty="0">
                          <a:effectLst/>
                        </a:rPr>
                        <a:t>5 días hábiles</a:t>
                      </a:r>
                      <a:endParaRPr lang="es-CL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14" marR="45014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415174">
                <a:tc rowSpan="2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_tradnl" sz="1000" dirty="0">
                          <a:effectLst/>
                        </a:rPr>
                        <a:t> </a:t>
                      </a:r>
                      <a:endParaRPr lang="es-CL" sz="12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s-ES_tradnl" sz="1000" dirty="0">
                          <a:effectLst/>
                        </a:rPr>
                        <a:t> </a:t>
                      </a:r>
                      <a:endParaRPr lang="es-CL" sz="12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s-ES_tradnl" sz="1000" dirty="0">
                          <a:effectLst/>
                        </a:rPr>
                        <a:t>                  MICROBIOLOGÍA</a:t>
                      </a:r>
                      <a:endParaRPr lang="es-CL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14" marR="4501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_tradnl" sz="1400" dirty="0">
                          <a:effectLst/>
                        </a:rPr>
                        <a:t> </a:t>
                      </a:r>
                      <a:endParaRPr lang="es-CL" sz="1600" dirty="0">
                        <a:effectLst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_tradnl" sz="1400" dirty="0" err="1">
                          <a:effectLst/>
                        </a:rPr>
                        <a:t>Baciloscopia</a:t>
                      </a:r>
                      <a:endParaRPr lang="es-C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14" marR="4501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_tradnl" sz="1400" dirty="0">
                          <a:effectLst/>
                        </a:rPr>
                        <a:t>__</a:t>
                      </a:r>
                      <a:endParaRPr lang="es-C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14" marR="45014" marT="0" marB="0" anchor="ctr"/>
                </a:tc>
                <a:tc>
                  <a:txBody>
                    <a:bodyPr/>
                    <a:lstStyle/>
                    <a:p>
                      <a:pPr marL="20955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_tradnl" sz="1400" dirty="0">
                          <a:effectLst/>
                        </a:rPr>
                        <a:t>BAAR +, ++, +++</a:t>
                      </a:r>
                      <a:endParaRPr lang="es-C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14" marR="45014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1600" dirty="0">
                          <a:effectLst/>
                        </a:rPr>
                        <a:t>8 horas</a:t>
                      </a:r>
                      <a:endParaRPr lang="es-CL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14" marR="45014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1100" dirty="0">
                          <a:effectLst/>
                        </a:rPr>
                        <a:t>5 días hábiles</a:t>
                      </a:r>
                      <a:endParaRPr lang="es-CL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14" marR="45014" marT="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415174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_tradnl" sz="1400" dirty="0">
                          <a:effectLst/>
                        </a:rPr>
                        <a:t>RPR embarazadas</a:t>
                      </a:r>
                      <a:endParaRPr lang="es-CL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14" marR="4501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_tradnl" sz="1100" dirty="0">
                          <a:effectLst/>
                        </a:rPr>
                        <a:t>__</a:t>
                      </a:r>
                      <a:endParaRPr lang="es-CL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14" marR="45014" marT="0" marB="0" anchor="ctr"/>
                </a:tc>
                <a:tc>
                  <a:txBody>
                    <a:bodyPr/>
                    <a:lstStyle/>
                    <a:p>
                      <a:pPr marL="20955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_tradnl" sz="1100">
                          <a:effectLst/>
                        </a:rPr>
                        <a:t>Positivo</a:t>
                      </a:r>
                      <a:endParaRPr lang="es-CL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14" marR="4501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_tradnl" sz="1100" dirty="0">
                          <a:effectLst/>
                        </a:rPr>
                        <a:t>8 horas</a:t>
                      </a:r>
                      <a:endParaRPr lang="es-CL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14" marR="4501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_tradnl" sz="1100" dirty="0">
                          <a:effectLst/>
                        </a:rPr>
                        <a:t>5 días hábiles</a:t>
                      </a:r>
                      <a:endParaRPr lang="es-CL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014" marR="45014" marT="0" marB="0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6067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 rot="16200000">
            <a:off x="-4308567" y="-44064"/>
            <a:ext cx="10515600" cy="1325563"/>
          </a:xfrm>
        </p:spPr>
        <p:txBody>
          <a:bodyPr>
            <a:normAutofit/>
          </a:bodyPr>
          <a:lstStyle/>
          <a:p>
            <a:r>
              <a:rPr lang="es-CL" sz="4000" dirty="0"/>
              <a:t>Valores críticos PAP</a:t>
            </a:r>
          </a:p>
        </p:txBody>
      </p:sp>
      <p:pic>
        <p:nvPicPr>
          <p:cNvPr id="2050" name="Imagen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4819" y="618717"/>
            <a:ext cx="8290152" cy="5653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45395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 rot="16200000">
            <a:off x="-4595018" y="691699"/>
            <a:ext cx="10515600" cy="1325563"/>
          </a:xfrm>
        </p:spPr>
        <p:txBody>
          <a:bodyPr>
            <a:normAutofit/>
          </a:bodyPr>
          <a:lstStyle/>
          <a:p>
            <a:r>
              <a:rPr lang="es-CL" sz="3200" dirty="0"/>
              <a:t>Valores críticos imágenes diagnósticas</a:t>
            </a:r>
          </a:p>
        </p:txBody>
      </p:sp>
      <p:graphicFrame>
        <p:nvGraphicFramePr>
          <p:cNvPr id="4" name="Tab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9245444"/>
              </p:ext>
            </p:extLst>
          </p:nvPr>
        </p:nvGraphicFramePr>
        <p:xfrm>
          <a:off x="1723616" y="689859"/>
          <a:ext cx="10006830" cy="56978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01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37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4550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CL" sz="2000" dirty="0">
                          <a:effectLst/>
                        </a:rPr>
                        <a:t>Tipo de examen</a:t>
                      </a:r>
                      <a:endParaRPr lang="es-CL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CL" sz="2000" dirty="0">
                          <a:effectLst/>
                        </a:rPr>
                        <a:t>Resultado notificación diferida</a:t>
                      </a:r>
                      <a:endParaRPr lang="es-CL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CL" sz="2000">
                          <a:effectLst/>
                        </a:rPr>
                        <a:t>Tiempo de atención efectiva.</a:t>
                      </a:r>
                      <a:endParaRPr lang="es-CL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343">
                <a:tc rowSpan="6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CL" sz="2000">
                          <a:effectLst/>
                        </a:rPr>
                        <a:t>Radiografía de pelvis, tórax, eco tomografía abdominal, Mamografías, eco mamaria y magnificaciones.</a:t>
                      </a:r>
                      <a:endParaRPr lang="es-CL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CL" sz="2000" dirty="0">
                          <a:effectLst/>
                        </a:rPr>
                        <a:t>Signos de neoplasia.</a:t>
                      </a:r>
                      <a:endParaRPr lang="es-CL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rowSpan="6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CL" sz="2000">
                          <a:effectLst/>
                        </a:rPr>
                        <a:t>Hasta 7 días hábiles una vez recepcionado el resultado vía mail.</a:t>
                      </a:r>
                      <a:endParaRPr lang="es-CL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0423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CL" sz="2000" dirty="0">
                          <a:effectLst/>
                        </a:rPr>
                        <a:t>Signos de progresión de neoplasia conocida.</a:t>
                      </a:r>
                      <a:endParaRPr lang="es-CL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0423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CL" sz="2000" dirty="0">
                          <a:effectLst/>
                        </a:rPr>
                        <a:t>Radiografía con ángulo </a:t>
                      </a:r>
                      <a:r>
                        <a:rPr lang="es-CL" sz="2000" dirty="0" err="1">
                          <a:effectLst/>
                        </a:rPr>
                        <a:t>acetabular</a:t>
                      </a:r>
                      <a:r>
                        <a:rPr lang="es-CL" sz="2000" dirty="0">
                          <a:effectLst/>
                        </a:rPr>
                        <a:t> igual o mayor a 30° (Displasia de caderas).</a:t>
                      </a:r>
                      <a:endParaRPr lang="es-CL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343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CL" sz="2000" dirty="0">
                          <a:effectLst/>
                        </a:rPr>
                        <a:t>Cuerpo extraño quirúrgico.</a:t>
                      </a:r>
                      <a:endParaRPr lang="es-CL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80423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CL" sz="2000" dirty="0">
                          <a:effectLst/>
                        </a:rPr>
                        <a:t>BIRARS 4 o signos sospechosos de neoplasia mamaria.</a:t>
                      </a:r>
                      <a:endParaRPr lang="es-CL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80423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CL" sz="2000" dirty="0">
                          <a:effectLst/>
                        </a:rPr>
                        <a:t>Signos de litiasis u obstrucciones de la vía biliar.</a:t>
                      </a:r>
                      <a:endParaRPr lang="es-CL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6364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52930" y="-52887"/>
            <a:ext cx="10515600" cy="1325563"/>
          </a:xfrm>
        </p:spPr>
        <p:txBody>
          <a:bodyPr>
            <a:normAutofit/>
          </a:bodyPr>
          <a:lstStyle/>
          <a:p>
            <a:r>
              <a:rPr lang="es-CL" sz="3600" dirty="0"/>
              <a:t>         Flujograma Valor crítico laboratorio</a:t>
            </a:r>
          </a:p>
        </p:txBody>
      </p:sp>
      <p:sp>
        <p:nvSpPr>
          <p:cNvPr id="4" name="Rectángulo 3"/>
          <p:cNvSpPr/>
          <p:nvPr/>
        </p:nvSpPr>
        <p:spPr>
          <a:xfrm>
            <a:off x="3352128" y="1142048"/>
            <a:ext cx="6236682" cy="5822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Tecnóloga Médica CESFAM</a:t>
            </a:r>
          </a:p>
        </p:txBody>
      </p:sp>
      <p:cxnSp>
        <p:nvCxnSpPr>
          <p:cNvPr id="6" name="Conector recto de flecha 5"/>
          <p:cNvCxnSpPr/>
          <p:nvPr/>
        </p:nvCxnSpPr>
        <p:spPr>
          <a:xfrm>
            <a:off x="4356461" y="1776549"/>
            <a:ext cx="0" cy="4180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/>
          <p:cNvSpPr txBox="1"/>
          <p:nvPr/>
        </p:nvSpPr>
        <p:spPr>
          <a:xfrm>
            <a:off x="2011680" y="1797873"/>
            <a:ext cx="2000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Vía telefónica/ mail</a:t>
            </a:r>
          </a:p>
        </p:txBody>
      </p:sp>
      <p:sp>
        <p:nvSpPr>
          <p:cNvPr id="8" name="Rectángulo 7"/>
          <p:cNvSpPr/>
          <p:nvPr/>
        </p:nvSpPr>
        <p:spPr>
          <a:xfrm>
            <a:off x="3176284" y="2240781"/>
            <a:ext cx="2612571" cy="8490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Profesional que realiza solicitud de examen o TENS coordinador</a:t>
            </a:r>
          </a:p>
        </p:txBody>
      </p:sp>
      <p:sp>
        <p:nvSpPr>
          <p:cNvPr id="9" name="Rectángulo 8"/>
          <p:cNvSpPr/>
          <p:nvPr/>
        </p:nvSpPr>
        <p:spPr>
          <a:xfrm>
            <a:off x="7143880" y="2267977"/>
            <a:ext cx="2374590" cy="82188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TENS Postas</a:t>
            </a:r>
          </a:p>
        </p:txBody>
      </p:sp>
      <p:cxnSp>
        <p:nvCxnSpPr>
          <p:cNvPr id="10" name="Conector recto de flecha 9"/>
          <p:cNvCxnSpPr/>
          <p:nvPr/>
        </p:nvCxnSpPr>
        <p:spPr>
          <a:xfrm>
            <a:off x="4353113" y="3175503"/>
            <a:ext cx="0" cy="4180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/>
          <p:cNvSpPr txBox="1"/>
          <p:nvPr/>
        </p:nvSpPr>
        <p:spPr>
          <a:xfrm>
            <a:off x="2795688" y="3191104"/>
            <a:ext cx="1457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Vía telefónica</a:t>
            </a:r>
          </a:p>
        </p:txBody>
      </p:sp>
      <p:sp>
        <p:nvSpPr>
          <p:cNvPr id="12" name="Rectángulo 11"/>
          <p:cNvSpPr/>
          <p:nvPr/>
        </p:nvSpPr>
        <p:spPr>
          <a:xfrm>
            <a:off x="3352127" y="3661674"/>
            <a:ext cx="2024743" cy="5822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Contacto usuario/a</a:t>
            </a:r>
          </a:p>
        </p:txBody>
      </p:sp>
      <p:sp>
        <p:nvSpPr>
          <p:cNvPr id="14" name="Rectángulo 13"/>
          <p:cNvSpPr/>
          <p:nvPr/>
        </p:nvSpPr>
        <p:spPr>
          <a:xfrm>
            <a:off x="6163324" y="3672111"/>
            <a:ext cx="670561" cy="5296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NO</a:t>
            </a:r>
          </a:p>
        </p:txBody>
      </p:sp>
      <p:sp>
        <p:nvSpPr>
          <p:cNvPr id="15" name="Rectángulo 14"/>
          <p:cNvSpPr/>
          <p:nvPr/>
        </p:nvSpPr>
        <p:spPr>
          <a:xfrm>
            <a:off x="4003764" y="4741931"/>
            <a:ext cx="670561" cy="5296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SI</a:t>
            </a:r>
          </a:p>
        </p:txBody>
      </p:sp>
      <p:cxnSp>
        <p:nvCxnSpPr>
          <p:cNvPr id="17" name="Conector recto de flecha 16"/>
          <p:cNvCxnSpPr/>
          <p:nvPr/>
        </p:nvCxnSpPr>
        <p:spPr>
          <a:xfrm>
            <a:off x="5461278" y="3952799"/>
            <a:ext cx="602708" cy="122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de flecha 17"/>
          <p:cNvCxnSpPr/>
          <p:nvPr/>
        </p:nvCxnSpPr>
        <p:spPr>
          <a:xfrm>
            <a:off x="4339045" y="4286127"/>
            <a:ext cx="0" cy="4180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ángulo 19"/>
          <p:cNvSpPr/>
          <p:nvPr/>
        </p:nvSpPr>
        <p:spPr>
          <a:xfrm>
            <a:off x="7564067" y="3618187"/>
            <a:ext cx="2024743" cy="7613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dirty="0"/>
              <a:t>-3 llamadas/3 días</a:t>
            </a:r>
          </a:p>
          <a:p>
            <a:r>
              <a:rPr lang="es-CL" dirty="0"/>
              <a:t>-VDI rescate</a:t>
            </a:r>
          </a:p>
        </p:txBody>
      </p:sp>
      <p:cxnSp>
        <p:nvCxnSpPr>
          <p:cNvPr id="21" name="Conector recto de flecha 20"/>
          <p:cNvCxnSpPr/>
          <p:nvPr/>
        </p:nvCxnSpPr>
        <p:spPr>
          <a:xfrm>
            <a:off x="6903651" y="3954449"/>
            <a:ext cx="602708" cy="122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/>
          <p:cNvCxnSpPr/>
          <p:nvPr/>
        </p:nvCxnSpPr>
        <p:spPr>
          <a:xfrm>
            <a:off x="4339044" y="5311733"/>
            <a:ext cx="0" cy="4180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ángulo 22"/>
          <p:cNvSpPr/>
          <p:nvPr/>
        </p:nvSpPr>
        <p:spPr>
          <a:xfrm>
            <a:off x="3035604" y="5755871"/>
            <a:ext cx="2612571" cy="8490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At. Presencial: Solicita hora atención médico morbilidad en SOME</a:t>
            </a:r>
          </a:p>
        </p:txBody>
      </p:sp>
      <p:cxnSp>
        <p:nvCxnSpPr>
          <p:cNvPr id="24" name="Conector recto de flecha 23"/>
          <p:cNvCxnSpPr/>
          <p:nvPr/>
        </p:nvCxnSpPr>
        <p:spPr>
          <a:xfrm flipV="1">
            <a:off x="5717912" y="6217920"/>
            <a:ext cx="1008000" cy="469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/>
          <p:cNvCxnSpPr/>
          <p:nvPr/>
        </p:nvCxnSpPr>
        <p:spPr>
          <a:xfrm flipH="1">
            <a:off x="4848660" y="4692085"/>
            <a:ext cx="2505729" cy="37092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Elipse 26"/>
          <p:cNvSpPr/>
          <p:nvPr/>
        </p:nvSpPr>
        <p:spPr>
          <a:xfrm>
            <a:off x="6861447" y="5904411"/>
            <a:ext cx="2657023" cy="627018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Atención efectiva</a:t>
            </a:r>
          </a:p>
        </p:txBody>
      </p:sp>
      <p:sp>
        <p:nvSpPr>
          <p:cNvPr id="29" name="CuadroTexto 28"/>
          <p:cNvSpPr txBox="1"/>
          <p:nvPr/>
        </p:nvSpPr>
        <p:spPr>
          <a:xfrm>
            <a:off x="7408753" y="5510866"/>
            <a:ext cx="1447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 días hábiles</a:t>
            </a:r>
          </a:p>
        </p:txBody>
      </p:sp>
      <p:cxnSp>
        <p:nvCxnSpPr>
          <p:cNvPr id="31" name="Conector recto de flecha 30"/>
          <p:cNvCxnSpPr/>
          <p:nvPr/>
        </p:nvCxnSpPr>
        <p:spPr>
          <a:xfrm>
            <a:off x="8574424" y="1776549"/>
            <a:ext cx="0" cy="418012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/>
          <p:cNvCxnSpPr/>
          <p:nvPr/>
        </p:nvCxnSpPr>
        <p:spPr>
          <a:xfrm flipH="1">
            <a:off x="4709560" y="3087856"/>
            <a:ext cx="2505729" cy="370922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/>
          <p:cNvCxnSpPr/>
          <p:nvPr/>
        </p:nvCxnSpPr>
        <p:spPr>
          <a:xfrm>
            <a:off x="10058400" y="0"/>
            <a:ext cx="28135" cy="685800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uadroTexto 36"/>
          <p:cNvSpPr txBox="1"/>
          <p:nvPr/>
        </p:nvSpPr>
        <p:spPr>
          <a:xfrm>
            <a:off x="10268619" y="971507"/>
            <a:ext cx="16740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Parte 1 planilla trazabilidad Excel drive</a:t>
            </a:r>
          </a:p>
        </p:txBody>
      </p:sp>
      <p:sp>
        <p:nvSpPr>
          <p:cNvPr id="38" name="CuadroTexto 37"/>
          <p:cNvSpPr txBox="1"/>
          <p:nvPr/>
        </p:nvSpPr>
        <p:spPr>
          <a:xfrm>
            <a:off x="10199080" y="2203658"/>
            <a:ext cx="16740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Parte 2 planilla trazabilidad Excel drive</a:t>
            </a:r>
          </a:p>
        </p:txBody>
      </p:sp>
      <p:sp>
        <p:nvSpPr>
          <p:cNvPr id="39" name="CuadroTexto 38"/>
          <p:cNvSpPr txBox="1"/>
          <p:nvPr/>
        </p:nvSpPr>
        <p:spPr>
          <a:xfrm>
            <a:off x="10268619" y="5311733"/>
            <a:ext cx="16740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Parte 3 planilla trazabilidad Excel drive: Encargado de Calidad</a:t>
            </a:r>
          </a:p>
        </p:txBody>
      </p:sp>
      <p:sp>
        <p:nvSpPr>
          <p:cNvPr id="40" name="CuadroTexto 39"/>
          <p:cNvSpPr txBox="1"/>
          <p:nvPr/>
        </p:nvSpPr>
        <p:spPr>
          <a:xfrm>
            <a:off x="10246150" y="215395"/>
            <a:ext cx="167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/>
              <a:t>Registros: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2D38CA7-2005-2FD2-886E-F8DBF0119F94}"/>
              </a:ext>
            </a:extLst>
          </p:cNvPr>
          <p:cNvSpPr/>
          <p:nvPr/>
        </p:nvSpPr>
        <p:spPr>
          <a:xfrm>
            <a:off x="194465" y="5761506"/>
            <a:ext cx="2612571" cy="8490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At. Por teléfono según examen y condición (dializados)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CF43EE6D-F0A7-2415-67D8-00EF9E628C9C}"/>
              </a:ext>
            </a:extLst>
          </p:cNvPr>
          <p:cNvCxnSpPr>
            <a:cxnSpLocks/>
          </p:cNvCxnSpPr>
          <p:nvPr/>
        </p:nvCxnSpPr>
        <p:spPr>
          <a:xfrm flipH="1">
            <a:off x="1734174" y="5038517"/>
            <a:ext cx="2232578" cy="65701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1343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52930" y="-52887"/>
            <a:ext cx="10515600" cy="1325563"/>
          </a:xfrm>
        </p:spPr>
        <p:txBody>
          <a:bodyPr>
            <a:normAutofit/>
          </a:bodyPr>
          <a:lstStyle/>
          <a:p>
            <a:r>
              <a:rPr lang="es-CL" sz="3600" dirty="0"/>
              <a:t>         Flujograma Valor crítico PAP</a:t>
            </a:r>
          </a:p>
        </p:txBody>
      </p:sp>
      <p:sp>
        <p:nvSpPr>
          <p:cNvPr id="4" name="Rectángulo 3"/>
          <p:cNvSpPr/>
          <p:nvPr/>
        </p:nvSpPr>
        <p:spPr>
          <a:xfrm>
            <a:off x="3352128" y="1142048"/>
            <a:ext cx="6236682" cy="5822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Unidad de Patología DSS O´Higgins</a:t>
            </a:r>
          </a:p>
        </p:txBody>
      </p:sp>
      <p:cxnSp>
        <p:nvCxnSpPr>
          <p:cNvPr id="6" name="Conector recto de flecha 5"/>
          <p:cNvCxnSpPr/>
          <p:nvPr/>
        </p:nvCxnSpPr>
        <p:spPr>
          <a:xfrm>
            <a:off x="6226757" y="1773533"/>
            <a:ext cx="0" cy="4180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/>
          <p:cNvSpPr txBox="1"/>
          <p:nvPr/>
        </p:nvSpPr>
        <p:spPr>
          <a:xfrm>
            <a:off x="2795688" y="1822213"/>
            <a:ext cx="1696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Planilla semanal</a:t>
            </a:r>
          </a:p>
        </p:txBody>
      </p:sp>
      <p:cxnSp>
        <p:nvCxnSpPr>
          <p:cNvPr id="10" name="Conector recto de flecha 9"/>
          <p:cNvCxnSpPr/>
          <p:nvPr/>
        </p:nvCxnSpPr>
        <p:spPr>
          <a:xfrm>
            <a:off x="4353113" y="2936368"/>
            <a:ext cx="0" cy="4180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/>
          <p:cNvSpPr txBox="1"/>
          <p:nvPr/>
        </p:nvSpPr>
        <p:spPr>
          <a:xfrm>
            <a:off x="2795688" y="2951969"/>
            <a:ext cx="1457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Vía telefónica</a:t>
            </a:r>
          </a:p>
        </p:txBody>
      </p:sp>
      <p:sp>
        <p:nvSpPr>
          <p:cNvPr id="12" name="Rectángulo 11"/>
          <p:cNvSpPr/>
          <p:nvPr/>
        </p:nvSpPr>
        <p:spPr>
          <a:xfrm>
            <a:off x="3352127" y="3422539"/>
            <a:ext cx="2024743" cy="5822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Contacto usuario/a</a:t>
            </a:r>
          </a:p>
        </p:txBody>
      </p:sp>
      <p:sp>
        <p:nvSpPr>
          <p:cNvPr id="14" name="Rectángulo 13"/>
          <p:cNvSpPr/>
          <p:nvPr/>
        </p:nvSpPr>
        <p:spPr>
          <a:xfrm>
            <a:off x="6163324" y="3432976"/>
            <a:ext cx="670561" cy="5296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NO</a:t>
            </a:r>
          </a:p>
        </p:txBody>
      </p:sp>
      <p:sp>
        <p:nvSpPr>
          <p:cNvPr id="15" name="Rectángulo 14"/>
          <p:cNvSpPr/>
          <p:nvPr/>
        </p:nvSpPr>
        <p:spPr>
          <a:xfrm>
            <a:off x="4003764" y="4502796"/>
            <a:ext cx="670561" cy="5296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SI</a:t>
            </a:r>
          </a:p>
        </p:txBody>
      </p:sp>
      <p:cxnSp>
        <p:nvCxnSpPr>
          <p:cNvPr id="17" name="Conector recto de flecha 16"/>
          <p:cNvCxnSpPr/>
          <p:nvPr/>
        </p:nvCxnSpPr>
        <p:spPr>
          <a:xfrm>
            <a:off x="5461278" y="3713664"/>
            <a:ext cx="602708" cy="122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de flecha 17"/>
          <p:cNvCxnSpPr/>
          <p:nvPr/>
        </p:nvCxnSpPr>
        <p:spPr>
          <a:xfrm>
            <a:off x="4339045" y="4046992"/>
            <a:ext cx="0" cy="4180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ángulo 19"/>
          <p:cNvSpPr/>
          <p:nvPr/>
        </p:nvSpPr>
        <p:spPr>
          <a:xfrm>
            <a:off x="7564067" y="3379052"/>
            <a:ext cx="2024743" cy="7613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dirty="0"/>
              <a:t>-3 llamadas/3 días</a:t>
            </a:r>
          </a:p>
          <a:p>
            <a:r>
              <a:rPr lang="es-CL" dirty="0"/>
              <a:t>-VDI rescate</a:t>
            </a:r>
          </a:p>
        </p:txBody>
      </p:sp>
      <p:cxnSp>
        <p:nvCxnSpPr>
          <p:cNvPr id="21" name="Conector recto de flecha 20"/>
          <p:cNvCxnSpPr/>
          <p:nvPr/>
        </p:nvCxnSpPr>
        <p:spPr>
          <a:xfrm>
            <a:off x="6903651" y="3715314"/>
            <a:ext cx="602708" cy="122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/>
          <p:cNvCxnSpPr/>
          <p:nvPr/>
        </p:nvCxnSpPr>
        <p:spPr>
          <a:xfrm>
            <a:off x="4339044" y="5072598"/>
            <a:ext cx="0" cy="4180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/>
          <p:cNvCxnSpPr/>
          <p:nvPr/>
        </p:nvCxnSpPr>
        <p:spPr>
          <a:xfrm flipH="1">
            <a:off x="4898246" y="4166845"/>
            <a:ext cx="2581376" cy="51476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Elipse 26"/>
          <p:cNvSpPr/>
          <p:nvPr/>
        </p:nvSpPr>
        <p:spPr>
          <a:xfrm>
            <a:off x="3024601" y="5490610"/>
            <a:ext cx="2657023" cy="627018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Emisión de Interconsulta</a:t>
            </a:r>
          </a:p>
        </p:txBody>
      </p:sp>
      <p:sp>
        <p:nvSpPr>
          <p:cNvPr id="29" name="CuadroTexto 28"/>
          <p:cNvSpPr txBox="1"/>
          <p:nvPr/>
        </p:nvSpPr>
        <p:spPr>
          <a:xfrm>
            <a:off x="5412324" y="5302880"/>
            <a:ext cx="1447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 días hábiles</a:t>
            </a:r>
          </a:p>
        </p:txBody>
      </p:sp>
      <p:cxnSp>
        <p:nvCxnSpPr>
          <p:cNvPr id="36" name="Conector recto 35"/>
          <p:cNvCxnSpPr/>
          <p:nvPr/>
        </p:nvCxnSpPr>
        <p:spPr>
          <a:xfrm>
            <a:off x="10058400" y="0"/>
            <a:ext cx="28135" cy="685800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uadroTexto 37"/>
          <p:cNvSpPr txBox="1"/>
          <p:nvPr/>
        </p:nvSpPr>
        <p:spPr>
          <a:xfrm>
            <a:off x="10257988" y="2006879"/>
            <a:ext cx="16740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Parte 1 y 2 planilla trazabilidad Excel drive</a:t>
            </a:r>
          </a:p>
        </p:txBody>
      </p:sp>
      <p:sp>
        <p:nvSpPr>
          <p:cNvPr id="39" name="CuadroTexto 38"/>
          <p:cNvSpPr txBox="1"/>
          <p:nvPr/>
        </p:nvSpPr>
        <p:spPr>
          <a:xfrm>
            <a:off x="10228671" y="4992575"/>
            <a:ext cx="16740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Parte 3 planilla trazabilidad Excel drive: Encargado de Calidad</a:t>
            </a:r>
          </a:p>
        </p:txBody>
      </p:sp>
      <p:sp>
        <p:nvSpPr>
          <p:cNvPr id="40" name="CuadroTexto 39"/>
          <p:cNvSpPr txBox="1"/>
          <p:nvPr/>
        </p:nvSpPr>
        <p:spPr>
          <a:xfrm>
            <a:off x="10185472" y="425228"/>
            <a:ext cx="167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/>
              <a:t>Registros:</a:t>
            </a:r>
          </a:p>
        </p:txBody>
      </p:sp>
      <p:sp>
        <p:nvSpPr>
          <p:cNvPr id="33" name="Rectángulo 32"/>
          <p:cNvSpPr/>
          <p:nvPr/>
        </p:nvSpPr>
        <p:spPr>
          <a:xfrm>
            <a:off x="3367102" y="2272832"/>
            <a:ext cx="6236682" cy="5822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Matrona Programa de la Mujer revisa planilla semanal</a:t>
            </a:r>
          </a:p>
        </p:txBody>
      </p:sp>
    </p:spTree>
    <p:extLst>
      <p:ext uri="{BB962C8B-B14F-4D97-AF65-F5344CB8AC3E}">
        <p14:creationId xmlns:p14="http://schemas.microsoft.com/office/powerpoint/2010/main" val="15857708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52930" y="-52886"/>
            <a:ext cx="10515600" cy="930134"/>
          </a:xfrm>
        </p:spPr>
        <p:txBody>
          <a:bodyPr>
            <a:normAutofit/>
          </a:bodyPr>
          <a:lstStyle/>
          <a:p>
            <a:r>
              <a:rPr lang="es-CL" sz="3600" dirty="0"/>
              <a:t>         Flujograma Valor crítico </a:t>
            </a:r>
            <a:r>
              <a:rPr lang="es-CL" sz="3600" dirty="0" err="1"/>
              <a:t>Rx</a:t>
            </a:r>
            <a:r>
              <a:rPr lang="es-CL" sz="3600" dirty="0"/>
              <a:t> de tórax</a:t>
            </a:r>
          </a:p>
        </p:txBody>
      </p:sp>
      <p:sp>
        <p:nvSpPr>
          <p:cNvPr id="4" name="Rectángulo 3"/>
          <p:cNvSpPr/>
          <p:nvPr/>
        </p:nvSpPr>
        <p:spPr>
          <a:xfrm>
            <a:off x="2944119" y="712807"/>
            <a:ext cx="6236682" cy="5822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Centro clínico</a:t>
            </a:r>
          </a:p>
        </p:txBody>
      </p:sp>
      <p:cxnSp>
        <p:nvCxnSpPr>
          <p:cNvPr id="6" name="Conector recto de flecha 5"/>
          <p:cNvCxnSpPr/>
          <p:nvPr/>
        </p:nvCxnSpPr>
        <p:spPr>
          <a:xfrm>
            <a:off x="6053330" y="1302555"/>
            <a:ext cx="0" cy="4180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/>
          <p:cNvSpPr txBox="1"/>
          <p:nvPr/>
        </p:nvSpPr>
        <p:spPr>
          <a:xfrm>
            <a:off x="2068591" y="1302555"/>
            <a:ext cx="986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Vía mail </a:t>
            </a:r>
          </a:p>
        </p:txBody>
      </p:sp>
      <p:sp>
        <p:nvSpPr>
          <p:cNvPr id="8" name="Rectángulo 7"/>
          <p:cNvSpPr/>
          <p:nvPr/>
        </p:nvSpPr>
        <p:spPr>
          <a:xfrm>
            <a:off x="2942270" y="2782981"/>
            <a:ext cx="2612571" cy="8490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Jefa de SOME</a:t>
            </a:r>
          </a:p>
        </p:txBody>
      </p:sp>
      <p:sp>
        <p:nvSpPr>
          <p:cNvPr id="9" name="Rectángulo 8"/>
          <p:cNvSpPr/>
          <p:nvPr/>
        </p:nvSpPr>
        <p:spPr>
          <a:xfrm>
            <a:off x="6909866" y="2770988"/>
            <a:ext cx="2374590" cy="82188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TENS Postas</a:t>
            </a:r>
          </a:p>
        </p:txBody>
      </p:sp>
      <p:cxnSp>
        <p:nvCxnSpPr>
          <p:cNvPr id="10" name="Conector recto de flecha 9"/>
          <p:cNvCxnSpPr/>
          <p:nvPr/>
        </p:nvCxnSpPr>
        <p:spPr>
          <a:xfrm>
            <a:off x="4119099" y="3665451"/>
            <a:ext cx="0" cy="4180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ángulo 11"/>
          <p:cNvSpPr/>
          <p:nvPr/>
        </p:nvSpPr>
        <p:spPr>
          <a:xfrm>
            <a:off x="3106727" y="4087163"/>
            <a:ext cx="2024743" cy="5822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Contacto usuario/a</a:t>
            </a:r>
          </a:p>
        </p:txBody>
      </p:sp>
      <p:sp>
        <p:nvSpPr>
          <p:cNvPr id="14" name="Rectángulo 13"/>
          <p:cNvSpPr/>
          <p:nvPr/>
        </p:nvSpPr>
        <p:spPr>
          <a:xfrm>
            <a:off x="5917924" y="4097600"/>
            <a:ext cx="670561" cy="5296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NO</a:t>
            </a:r>
          </a:p>
        </p:txBody>
      </p:sp>
      <p:sp>
        <p:nvSpPr>
          <p:cNvPr id="15" name="Rectángulo 14"/>
          <p:cNvSpPr/>
          <p:nvPr/>
        </p:nvSpPr>
        <p:spPr>
          <a:xfrm>
            <a:off x="3783818" y="5139460"/>
            <a:ext cx="670561" cy="5296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SI</a:t>
            </a:r>
          </a:p>
        </p:txBody>
      </p:sp>
      <p:cxnSp>
        <p:nvCxnSpPr>
          <p:cNvPr id="17" name="Conector recto de flecha 16"/>
          <p:cNvCxnSpPr/>
          <p:nvPr/>
        </p:nvCxnSpPr>
        <p:spPr>
          <a:xfrm>
            <a:off x="5215878" y="4378288"/>
            <a:ext cx="602708" cy="122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de flecha 17"/>
          <p:cNvCxnSpPr/>
          <p:nvPr/>
        </p:nvCxnSpPr>
        <p:spPr>
          <a:xfrm>
            <a:off x="4119099" y="4696719"/>
            <a:ext cx="0" cy="4180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ángulo 19"/>
          <p:cNvSpPr/>
          <p:nvPr/>
        </p:nvSpPr>
        <p:spPr>
          <a:xfrm>
            <a:off x="7318667" y="4122054"/>
            <a:ext cx="2024743" cy="7613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dirty="0"/>
              <a:t>-3 llamadas/3 días</a:t>
            </a:r>
          </a:p>
          <a:p>
            <a:r>
              <a:rPr lang="es-CL" dirty="0"/>
              <a:t>-VDI rescate</a:t>
            </a:r>
          </a:p>
        </p:txBody>
      </p:sp>
      <p:cxnSp>
        <p:nvCxnSpPr>
          <p:cNvPr id="21" name="Conector recto de flecha 20"/>
          <p:cNvCxnSpPr/>
          <p:nvPr/>
        </p:nvCxnSpPr>
        <p:spPr>
          <a:xfrm>
            <a:off x="6658251" y="4379938"/>
            <a:ext cx="602708" cy="122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/>
          <p:cNvCxnSpPr/>
          <p:nvPr/>
        </p:nvCxnSpPr>
        <p:spPr>
          <a:xfrm>
            <a:off x="4138515" y="5669068"/>
            <a:ext cx="0" cy="4180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ángulo 22"/>
          <p:cNvSpPr/>
          <p:nvPr/>
        </p:nvSpPr>
        <p:spPr>
          <a:xfrm>
            <a:off x="3054758" y="6051043"/>
            <a:ext cx="3150050" cy="8490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Solicita hora atención médico morbilidad o respiratorio en SOME</a:t>
            </a:r>
          </a:p>
        </p:txBody>
      </p:sp>
      <p:cxnSp>
        <p:nvCxnSpPr>
          <p:cNvPr id="24" name="Conector recto de flecha 23"/>
          <p:cNvCxnSpPr/>
          <p:nvPr/>
        </p:nvCxnSpPr>
        <p:spPr>
          <a:xfrm flipV="1">
            <a:off x="6248390" y="6393560"/>
            <a:ext cx="1008000" cy="469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/>
          <p:cNvCxnSpPr/>
          <p:nvPr/>
        </p:nvCxnSpPr>
        <p:spPr>
          <a:xfrm flipH="1">
            <a:off x="4588690" y="4876120"/>
            <a:ext cx="2678400" cy="43182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Elipse 26"/>
          <p:cNvSpPr/>
          <p:nvPr/>
        </p:nvSpPr>
        <p:spPr>
          <a:xfrm>
            <a:off x="7328883" y="6080051"/>
            <a:ext cx="2657023" cy="627018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Atención efectiva</a:t>
            </a:r>
          </a:p>
        </p:txBody>
      </p:sp>
      <p:sp>
        <p:nvSpPr>
          <p:cNvPr id="28" name="CuadroTexto 27"/>
          <p:cNvSpPr txBox="1"/>
          <p:nvPr/>
        </p:nvSpPr>
        <p:spPr>
          <a:xfrm>
            <a:off x="988116" y="1266191"/>
            <a:ext cx="991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24 horas</a:t>
            </a:r>
          </a:p>
        </p:txBody>
      </p:sp>
      <p:sp>
        <p:nvSpPr>
          <p:cNvPr id="29" name="CuadroTexto 28"/>
          <p:cNvSpPr txBox="1"/>
          <p:nvPr/>
        </p:nvSpPr>
        <p:spPr>
          <a:xfrm>
            <a:off x="8116949" y="5520811"/>
            <a:ext cx="1447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 días hábiles</a:t>
            </a:r>
          </a:p>
        </p:txBody>
      </p:sp>
      <p:cxnSp>
        <p:nvCxnSpPr>
          <p:cNvPr id="32" name="Conector recto de flecha 31"/>
          <p:cNvCxnSpPr/>
          <p:nvPr/>
        </p:nvCxnSpPr>
        <p:spPr>
          <a:xfrm flipH="1">
            <a:off x="4475546" y="3656182"/>
            <a:ext cx="2505729" cy="370922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/>
          <p:cNvCxnSpPr/>
          <p:nvPr/>
        </p:nvCxnSpPr>
        <p:spPr>
          <a:xfrm>
            <a:off x="10058400" y="0"/>
            <a:ext cx="28135" cy="685800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uadroTexto 36"/>
          <p:cNvSpPr txBox="1"/>
          <p:nvPr/>
        </p:nvSpPr>
        <p:spPr>
          <a:xfrm>
            <a:off x="10143233" y="1635523"/>
            <a:ext cx="16740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Parte 1 planilla trazabilidad Excel drive</a:t>
            </a:r>
          </a:p>
        </p:txBody>
      </p:sp>
      <p:sp>
        <p:nvSpPr>
          <p:cNvPr id="38" name="CuadroTexto 37"/>
          <p:cNvSpPr txBox="1"/>
          <p:nvPr/>
        </p:nvSpPr>
        <p:spPr>
          <a:xfrm>
            <a:off x="10161832" y="2737364"/>
            <a:ext cx="16740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Parte 2 planilla trazabilidad Excel drive</a:t>
            </a:r>
          </a:p>
        </p:txBody>
      </p:sp>
      <p:sp>
        <p:nvSpPr>
          <p:cNvPr id="39" name="CuadroTexto 38"/>
          <p:cNvSpPr txBox="1"/>
          <p:nvPr/>
        </p:nvSpPr>
        <p:spPr>
          <a:xfrm>
            <a:off x="10246150" y="5307940"/>
            <a:ext cx="16740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Parte 3 planilla trazabilidad Excel drive: Encargado de Calidad</a:t>
            </a:r>
          </a:p>
        </p:txBody>
      </p:sp>
      <p:sp>
        <p:nvSpPr>
          <p:cNvPr id="40" name="CuadroTexto 39"/>
          <p:cNvSpPr txBox="1"/>
          <p:nvPr/>
        </p:nvSpPr>
        <p:spPr>
          <a:xfrm>
            <a:off x="10246150" y="215395"/>
            <a:ext cx="167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/>
              <a:t>Registros:</a:t>
            </a:r>
          </a:p>
        </p:txBody>
      </p:sp>
      <p:sp>
        <p:nvSpPr>
          <p:cNvPr id="33" name="Rectángulo 32"/>
          <p:cNvSpPr/>
          <p:nvPr/>
        </p:nvSpPr>
        <p:spPr>
          <a:xfrm>
            <a:off x="2942270" y="1754971"/>
            <a:ext cx="6236682" cy="5822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Profesional Gestor de valor crítico</a:t>
            </a:r>
          </a:p>
        </p:txBody>
      </p:sp>
      <p:sp>
        <p:nvSpPr>
          <p:cNvPr id="34" name="CuadroTexto 33"/>
          <p:cNvSpPr txBox="1"/>
          <p:nvPr/>
        </p:nvSpPr>
        <p:spPr>
          <a:xfrm>
            <a:off x="2095039" y="2375973"/>
            <a:ext cx="933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Vía mail</a:t>
            </a:r>
          </a:p>
        </p:txBody>
      </p:sp>
      <p:cxnSp>
        <p:nvCxnSpPr>
          <p:cNvPr id="35" name="Conector recto de flecha 34"/>
          <p:cNvCxnSpPr/>
          <p:nvPr/>
        </p:nvCxnSpPr>
        <p:spPr>
          <a:xfrm>
            <a:off x="4095900" y="2349847"/>
            <a:ext cx="0" cy="4180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de flecha 40"/>
          <p:cNvCxnSpPr/>
          <p:nvPr/>
        </p:nvCxnSpPr>
        <p:spPr>
          <a:xfrm>
            <a:off x="8128476" y="2351906"/>
            <a:ext cx="0" cy="418012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uadroTexto 41"/>
          <p:cNvSpPr txBox="1"/>
          <p:nvPr/>
        </p:nvSpPr>
        <p:spPr>
          <a:xfrm>
            <a:off x="2096149" y="3757334"/>
            <a:ext cx="1457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Vía telefónica</a:t>
            </a:r>
          </a:p>
        </p:txBody>
      </p:sp>
    </p:spTree>
    <p:extLst>
      <p:ext uri="{BB962C8B-B14F-4D97-AF65-F5344CB8AC3E}">
        <p14:creationId xmlns:p14="http://schemas.microsoft.com/office/powerpoint/2010/main" val="24199455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97041" y="-79076"/>
            <a:ext cx="10515600" cy="930134"/>
          </a:xfrm>
        </p:spPr>
        <p:txBody>
          <a:bodyPr>
            <a:normAutofit/>
          </a:bodyPr>
          <a:lstStyle/>
          <a:p>
            <a:r>
              <a:rPr lang="es-CL" sz="3600" dirty="0"/>
              <a:t>         Flujograma Valor crítico </a:t>
            </a:r>
            <a:r>
              <a:rPr lang="es-CL" sz="3600" dirty="0" err="1"/>
              <a:t>Rx</a:t>
            </a:r>
            <a:r>
              <a:rPr lang="es-CL" sz="3600" dirty="0"/>
              <a:t> de Pelvis CESFAM</a:t>
            </a:r>
          </a:p>
        </p:txBody>
      </p:sp>
      <p:sp>
        <p:nvSpPr>
          <p:cNvPr id="4" name="Rectángulo 3"/>
          <p:cNvSpPr/>
          <p:nvPr/>
        </p:nvSpPr>
        <p:spPr>
          <a:xfrm>
            <a:off x="2944119" y="712807"/>
            <a:ext cx="6236682" cy="5822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Centro clínico</a:t>
            </a:r>
          </a:p>
        </p:txBody>
      </p:sp>
      <p:cxnSp>
        <p:nvCxnSpPr>
          <p:cNvPr id="6" name="Conector recto de flecha 5"/>
          <p:cNvCxnSpPr/>
          <p:nvPr/>
        </p:nvCxnSpPr>
        <p:spPr>
          <a:xfrm>
            <a:off x="6053330" y="1302555"/>
            <a:ext cx="0" cy="4180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/>
          <p:cNvSpPr txBox="1"/>
          <p:nvPr/>
        </p:nvSpPr>
        <p:spPr>
          <a:xfrm>
            <a:off x="2068591" y="1302555"/>
            <a:ext cx="986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Vía mail </a:t>
            </a:r>
          </a:p>
        </p:txBody>
      </p:sp>
      <p:sp>
        <p:nvSpPr>
          <p:cNvPr id="8" name="Rectángulo 7"/>
          <p:cNvSpPr/>
          <p:nvPr/>
        </p:nvSpPr>
        <p:spPr>
          <a:xfrm>
            <a:off x="2942270" y="2782981"/>
            <a:ext cx="6236682" cy="56107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Enfermera Programa Salud Infantil</a:t>
            </a:r>
          </a:p>
        </p:txBody>
      </p:sp>
      <p:cxnSp>
        <p:nvCxnSpPr>
          <p:cNvPr id="10" name="Conector recto de flecha 9"/>
          <p:cNvCxnSpPr/>
          <p:nvPr/>
        </p:nvCxnSpPr>
        <p:spPr>
          <a:xfrm flipH="1">
            <a:off x="3964188" y="3381736"/>
            <a:ext cx="1" cy="52671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ángulo 11"/>
          <p:cNvSpPr/>
          <p:nvPr/>
        </p:nvSpPr>
        <p:spPr>
          <a:xfrm>
            <a:off x="2951818" y="3917396"/>
            <a:ext cx="2024743" cy="5822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Contacto con tutores de menor</a:t>
            </a:r>
          </a:p>
        </p:txBody>
      </p:sp>
      <p:sp>
        <p:nvSpPr>
          <p:cNvPr id="14" name="Rectángulo 13"/>
          <p:cNvSpPr/>
          <p:nvPr/>
        </p:nvSpPr>
        <p:spPr>
          <a:xfrm>
            <a:off x="5763015" y="3927833"/>
            <a:ext cx="670561" cy="5296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NO</a:t>
            </a:r>
          </a:p>
        </p:txBody>
      </p:sp>
      <p:sp>
        <p:nvSpPr>
          <p:cNvPr id="15" name="Rectángulo 14"/>
          <p:cNvSpPr/>
          <p:nvPr/>
        </p:nvSpPr>
        <p:spPr>
          <a:xfrm>
            <a:off x="3628909" y="4969693"/>
            <a:ext cx="670561" cy="5296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SI</a:t>
            </a:r>
          </a:p>
        </p:txBody>
      </p:sp>
      <p:cxnSp>
        <p:nvCxnSpPr>
          <p:cNvPr id="17" name="Conector recto de flecha 16"/>
          <p:cNvCxnSpPr/>
          <p:nvPr/>
        </p:nvCxnSpPr>
        <p:spPr>
          <a:xfrm>
            <a:off x="5060969" y="4208521"/>
            <a:ext cx="602708" cy="122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de flecha 17"/>
          <p:cNvCxnSpPr/>
          <p:nvPr/>
        </p:nvCxnSpPr>
        <p:spPr>
          <a:xfrm>
            <a:off x="3964190" y="4526952"/>
            <a:ext cx="0" cy="4180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ángulo 19"/>
          <p:cNvSpPr/>
          <p:nvPr/>
        </p:nvSpPr>
        <p:spPr>
          <a:xfrm>
            <a:off x="7163758" y="3952287"/>
            <a:ext cx="2024743" cy="7613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dirty="0"/>
              <a:t>-3 llamadas/3 días</a:t>
            </a:r>
          </a:p>
          <a:p>
            <a:r>
              <a:rPr lang="es-CL" dirty="0"/>
              <a:t>-VDI rescate</a:t>
            </a:r>
          </a:p>
        </p:txBody>
      </p:sp>
      <p:cxnSp>
        <p:nvCxnSpPr>
          <p:cNvPr id="21" name="Conector recto de flecha 20"/>
          <p:cNvCxnSpPr/>
          <p:nvPr/>
        </p:nvCxnSpPr>
        <p:spPr>
          <a:xfrm>
            <a:off x="6503342" y="4210171"/>
            <a:ext cx="602708" cy="122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/>
          <p:cNvCxnSpPr/>
          <p:nvPr/>
        </p:nvCxnSpPr>
        <p:spPr>
          <a:xfrm>
            <a:off x="3983606" y="5499301"/>
            <a:ext cx="0" cy="4180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ángulo 22"/>
          <p:cNvSpPr/>
          <p:nvPr/>
        </p:nvSpPr>
        <p:spPr>
          <a:xfrm>
            <a:off x="2899849" y="5881276"/>
            <a:ext cx="3150050" cy="8490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Solicita hora atención médico morbilidad</a:t>
            </a:r>
          </a:p>
        </p:txBody>
      </p:sp>
      <p:cxnSp>
        <p:nvCxnSpPr>
          <p:cNvPr id="24" name="Conector recto de flecha 23"/>
          <p:cNvCxnSpPr/>
          <p:nvPr/>
        </p:nvCxnSpPr>
        <p:spPr>
          <a:xfrm flipV="1">
            <a:off x="6093481" y="6223793"/>
            <a:ext cx="1008000" cy="469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/>
          <p:cNvCxnSpPr/>
          <p:nvPr/>
        </p:nvCxnSpPr>
        <p:spPr>
          <a:xfrm flipH="1">
            <a:off x="4433781" y="4706353"/>
            <a:ext cx="2678400" cy="43182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Elipse 26"/>
          <p:cNvSpPr/>
          <p:nvPr/>
        </p:nvSpPr>
        <p:spPr>
          <a:xfrm>
            <a:off x="7173974" y="5910284"/>
            <a:ext cx="2657023" cy="627018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Atención efectiva</a:t>
            </a:r>
          </a:p>
        </p:txBody>
      </p:sp>
      <p:sp>
        <p:nvSpPr>
          <p:cNvPr id="28" name="CuadroTexto 27"/>
          <p:cNvSpPr txBox="1"/>
          <p:nvPr/>
        </p:nvSpPr>
        <p:spPr>
          <a:xfrm>
            <a:off x="977238" y="1266191"/>
            <a:ext cx="991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24 horas</a:t>
            </a:r>
          </a:p>
        </p:txBody>
      </p:sp>
      <p:sp>
        <p:nvSpPr>
          <p:cNvPr id="29" name="CuadroTexto 28"/>
          <p:cNvSpPr txBox="1"/>
          <p:nvPr/>
        </p:nvSpPr>
        <p:spPr>
          <a:xfrm>
            <a:off x="7962040" y="5351044"/>
            <a:ext cx="1447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 días hábiles</a:t>
            </a:r>
          </a:p>
        </p:txBody>
      </p:sp>
      <p:cxnSp>
        <p:nvCxnSpPr>
          <p:cNvPr id="36" name="Conector recto 35"/>
          <p:cNvCxnSpPr/>
          <p:nvPr/>
        </p:nvCxnSpPr>
        <p:spPr>
          <a:xfrm>
            <a:off x="10058400" y="0"/>
            <a:ext cx="28135" cy="685800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uadroTexto 36"/>
          <p:cNvSpPr txBox="1"/>
          <p:nvPr/>
        </p:nvSpPr>
        <p:spPr>
          <a:xfrm>
            <a:off x="10143233" y="1635523"/>
            <a:ext cx="16740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Parte 1 planilla trazabilidad Excel drive</a:t>
            </a:r>
          </a:p>
        </p:txBody>
      </p:sp>
      <p:sp>
        <p:nvSpPr>
          <p:cNvPr id="38" name="CuadroTexto 37"/>
          <p:cNvSpPr txBox="1"/>
          <p:nvPr/>
        </p:nvSpPr>
        <p:spPr>
          <a:xfrm>
            <a:off x="10161832" y="2737364"/>
            <a:ext cx="16740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Parte 2 planilla trazabilidad Excel drive</a:t>
            </a:r>
          </a:p>
        </p:txBody>
      </p:sp>
      <p:sp>
        <p:nvSpPr>
          <p:cNvPr id="39" name="CuadroTexto 38"/>
          <p:cNvSpPr txBox="1"/>
          <p:nvPr/>
        </p:nvSpPr>
        <p:spPr>
          <a:xfrm>
            <a:off x="10242886" y="5351044"/>
            <a:ext cx="16740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Parte 3 planilla trazabilidad Excel drive: Encargado de Calidad</a:t>
            </a:r>
          </a:p>
        </p:txBody>
      </p:sp>
      <p:sp>
        <p:nvSpPr>
          <p:cNvPr id="40" name="CuadroTexto 39"/>
          <p:cNvSpPr txBox="1"/>
          <p:nvPr/>
        </p:nvSpPr>
        <p:spPr>
          <a:xfrm>
            <a:off x="10246150" y="215395"/>
            <a:ext cx="167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/>
              <a:t>Registros:</a:t>
            </a:r>
          </a:p>
        </p:txBody>
      </p:sp>
      <p:sp>
        <p:nvSpPr>
          <p:cNvPr id="33" name="Rectángulo 32"/>
          <p:cNvSpPr/>
          <p:nvPr/>
        </p:nvSpPr>
        <p:spPr>
          <a:xfrm>
            <a:off x="2942270" y="1754971"/>
            <a:ext cx="6236682" cy="5822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Profesional Gestor de valor crítico</a:t>
            </a:r>
          </a:p>
        </p:txBody>
      </p:sp>
      <p:sp>
        <p:nvSpPr>
          <p:cNvPr id="34" name="CuadroTexto 33"/>
          <p:cNvSpPr txBox="1"/>
          <p:nvPr/>
        </p:nvSpPr>
        <p:spPr>
          <a:xfrm>
            <a:off x="2095039" y="2375973"/>
            <a:ext cx="933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Vía mail</a:t>
            </a:r>
          </a:p>
        </p:txBody>
      </p:sp>
      <p:cxnSp>
        <p:nvCxnSpPr>
          <p:cNvPr id="35" name="Conector recto de flecha 34"/>
          <p:cNvCxnSpPr/>
          <p:nvPr/>
        </p:nvCxnSpPr>
        <p:spPr>
          <a:xfrm>
            <a:off x="6053330" y="2337220"/>
            <a:ext cx="0" cy="4180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uadroTexto 41"/>
          <p:cNvSpPr txBox="1"/>
          <p:nvPr/>
        </p:nvSpPr>
        <p:spPr>
          <a:xfrm>
            <a:off x="2095039" y="3453365"/>
            <a:ext cx="1457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Vía telefónica</a:t>
            </a:r>
          </a:p>
        </p:txBody>
      </p:sp>
    </p:spTree>
    <p:extLst>
      <p:ext uri="{BB962C8B-B14F-4D97-AF65-F5344CB8AC3E}">
        <p14:creationId xmlns:p14="http://schemas.microsoft.com/office/powerpoint/2010/main" val="3402456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97041" y="-79076"/>
            <a:ext cx="10515600" cy="930134"/>
          </a:xfrm>
        </p:spPr>
        <p:txBody>
          <a:bodyPr>
            <a:normAutofit/>
          </a:bodyPr>
          <a:lstStyle/>
          <a:p>
            <a:r>
              <a:rPr lang="es-CL" sz="3600" dirty="0"/>
              <a:t>         Flujograma Valor crítico </a:t>
            </a:r>
            <a:r>
              <a:rPr lang="es-CL" sz="3600" dirty="0" err="1"/>
              <a:t>Rx</a:t>
            </a:r>
            <a:r>
              <a:rPr lang="es-CL" sz="3600" dirty="0"/>
              <a:t> de Pelvis Postas</a:t>
            </a:r>
          </a:p>
        </p:txBody>
      </p:sp>
      <p:sp>
        <p:nvSpPr>
          <p:cNvPr id="4" name="Rectángulo 3"/>
          <p:cNvSpPr/>
          <p:nvPr/>
        </p:nvSpPr>
        <p:spPr>
          <a:xfrm>
            <a:off x="2944119" y="712807"/>
            <a:ext cx="6236682" cy="5822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Centro clínico</a:t>
            </a:r>
          </a:p>
        </p:txBody>
      </p:sp>
      <p:cxnSp>
        <p:nvCxnSpPr>
          <p:cNvPr id="6" name="Conector recto de flecha 5"/>
          <p:cNvCxnSpPr/>
          <p:nvPr/>
        </p:nvCxnSpPr>
        <p:spPr>
          <a:xfrm>
            <a:off x="6053330" y="1302555"/>
            <a:ext cx="0" cy="3600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/>
          <p:cNvSpPr txBox="1"/>
          <p:nvPr/>
        </p:nvSpPr>
        <p:spPr>
          <a:xfrm>
            <a:off x="2068591" y="1302555"/>
            <a:ext cx="986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Vía mail </a:t>
            </a:r>
          </a:p>
        </p:txBody>
      </p:sp>
      <p:sp>
        <p:nvSpPr>
          <p:cNvPr id="8" name="Rectángulo 7"/>
          <p:cNvSpPr/>
          <p:nvPr/>
        </p:nvSpPr>
        <p:spPr>
          <a:xfrm>
            <a:off x="2942270" y="2639288"/>
            <a:ext cx="6236682" cy="56107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Enfermera Programa Salud Infantil</a:t>
            </a:r>
          </a:p>
        </p:txBody>
      </p:sp>
      <p:cxnSp>
        <p:nvCxnSpPr>
          <p:cNvPr id="10" name="Conector recto de flecha 9"/>
          <p:cNvCxnSpPr/>
          <p:nvPr/>
        </p:nvCxnSpPr>
        <p:spPr>
          <a:xfrm flipH="1">
            <a:off x="6049899" y="3197553"/>
            <a:ext cx="6143" cy="3600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ángulo 11"/>
          <p:cNvSpPr/>
          <p:nvPr/>
        </p:nvSpPr>
        <p:spPr>
          <a:xfrm>
            <a:off x="2942270" y="4399986"/>
            <a:ext cx="2024743" cy="5822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Contacto con tutores de menor</a:t>
            </a:r>
          </a:p>
        </p:txBody>
      </p:sp>
      <p:sp>
        <p:nvSpPr>
          <p:cNvPr id="14" name="Rectángulo 13"/>
          <p:cNvSpPr/>
          <p:nvPr/>
        </p:nvSpPr>
        <p:spPr>
          <a:xfrm>
            <a:off x="5753467" y="4345108"/>
            <a:ext cx="670561" cy="5296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NO</a:t>
            </a:r>
          </a:p>
        </p:txBody>
      </p:sp>
      <p:sp>
        <p:nvSpPr>
          <p:cNvPr id="15" name="Rectángulo 14"/>
          <p:cNvSpPr/>
          <p:nvPr/>
        </p:nvSpPr>
        <p:spPr>
          <a:xfrm>
            <a:off x="3619361" y="5308590"/>
            <a:ext cx="670561" cy="4255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SI</a:t>
            </a:r>
          </a:p>
        </p:txBody>
      </p:sp>
      <p:cxnSp>
        <p:nvCxnSpPr>
          <p:cNvPr id="17" name="Conector recto de flecha 16"/>
          <p:cNvCxnSpPr/>
          <p:nvPr/>
        </p:nvCxnSpPr>
        <p:spPr>
          <a:xfrm>
            <a:off x="5051421" y="4625796"/>
            <a:ext cx="602708" cy="122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de flecha 17"/>
          <p:cNvCxnSpPr/>
          <p:nvPr/>
        </p:nvCxnSpPr>
        <p:spPr>
          <a:xfrm>
            <a:off x="3954642" y="4944227"/>
            <a:ext cx="0" cy="3600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ángulo 19"/>
          <p:cNvSpPr/>
          <p:nvPr/>
        </p:nvSpPr>
        <p:spPr>
          <a:xfrm>
            <a:off x="7154210" y="4369562"/>
            <a:ext cx="2024743" cy="7613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dirty="0"/>
              <a:t>-3 llamadas/3 días</a:t>
            </a:r>
          </a:p>
          <a:p>
            <a:r>
              <a:rPr lang="es-CL" dirty="0"/>
              <a:t>-VDI rescate</a:t>
            </a:r>
          </a:p>
        </p:txBody>
      </p:sp>
      <p:cxnSp>
        <p:nvCxnSpPr>
          <p:cNvPr id="21" name="Conector recto de flecha 20"/>
          <p:cNvCxnSpPr/>
          <p:nvPr/>
        </p:nvCxnSpPr>
        <p:spPr>
          <a:xfrm>
            <a:off x="6493794" y="4627446"/>
            <a:ext cx="602708" cy="122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/>
          <p:cNvCxnSpPr/>
          <p:nvPr/>
        </p:nvCxnSpPr>
        <p:spPr>
          <a:xfrm>
            <a:off x="3960995" y="5746757"/>
            <a:ext cx="0" cy="3600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ángulo 22"/>
          <p:cNvSpPr/>
          <p:nvPr/>
        </p:nvSpPr>
        <p:spPr>
          <a:xfrm>
            <a:off x="2915542" y="6094684"/>
            <a:ext cx="3150050" cy="6943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Solicita hora atención médico morbilidad</a:t>
            </a:r>
          </a:p>
        </p:txBody>
      </p:sp>
      <p:cxnSp>
        <p:nvCxnSpPr>
          <p:cNvPr id="24" name="Conector recto de flecha 23"/>
          <p:cNvCxnSpPr/>
          <p:nvPr/>
        </p:nvCxnSpPr>
        <p:spPr>
          <a:xfrm flipV="1">
            <a:off x="6081129" y="6441873"/>
            <a:ext cx="1008000" cy="469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/>
          <p:cNvCxnSpPr/>
          <p:nvPr/>
        </p:nvCxnSpPr>
        <p:spPr>
          <a:xfrm flipH="1">
            <a:off x="4389120" y="5123628"/>
            <a:ext cx="2713513" cy="38427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Elipse 26"/>
          <p:cNvSpPr/>
          <p:nvPr/>
        </p:nvSpPr>
        <p:spPr>
          <a:xfrm>
            <a:off x="7156290" y="6148004"/>
            <a:ext cx="2657023" cy="627018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Atención efectiva</a:t>
            </a:r>
          </a:p>
        </p:txBody>
      </p:sp>
      <p:sp>
        <p:nvSpPr>
          <p:cNvPr id="28" name="CuadroTexto 27"/>
          <p:cNvSpPr txBox="1"/>
          <p:nvPr/>
        </p:nvSpPr>
        <p:spPr>
          <a:xfrm>
            <a:off x="977238" y="1266191"/>
            <a:ext cx="991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24 horas</a:t>
            </a:r>
          </a:p>
        </p:txBody>
      </p:sp>
      <p:sp>
        <p:nvSpPr>
          <p:cNvPr id="29" name="CuadroTexto 28"/>
          <p:cNvSpPr txBox="1"/>
          <p:nvPr/>
        </p:nvSpPr>
        <p:spPr>
          <a:xfrm>
            <a:off x="7952492" y="5768319"/>
            <a:ext cx="1447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 días hábiles</a:t>
            </a:r>
          </a:p>
        </p:txBody>
      </p:sp>
      <p:cxnSp>
        <p:nvCxnSpPr>
          <p:cNvPr id="36" name="Conector recto 35"/>
          <p:cNvCxnSpPr/>
          <p:nvPr/>
        </p:nvCxnSpPr>
        <p:spPr>
          <a:xfrm>
            <a:off x="10058400" y="0"/>
            <a:ext cx="28135" cy="685800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uadroTexto 36"/>
          <p:cNvSpPr txBox="1"/>
          <p:nvPr/>
        </p:nvSpPr>
        <p:spPr>
          <a:xfrm>
            <a:off x="10151031" y="1498284"/>
            <a:ext cx="16740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Parte 1 planilla trazabilidad Excel drive</a:t>
            </a:r>
          </a:p>
        </p:txBody>
      </p:sp>
      <p:sp>
        <p:nvSpPr>
          <p:cNvPr id="38" name="CuadroTexto 37"/>
          <p:cNvSpPr txBox="1"/>
          <p:nvPr/>
        </p:nvSpPr>
        <p:spPr>
          <a:xfrm>
            <a:off x="10127106" y="3468118"/>
            <a:ext cx="16740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Parte 2 planilla trazabilidad Excel drive</a:t>
            </a:r>
          </a:p>
        </p:txBody>
      </p:sp>
      <p:sp>
        <p:nvSpPr>
          <p:cNvPr id="39" name="CuadroTexto 38"/>
          <p:cNvSpPr txBox="1"/>
          <p:nvPr/>
        </p:nvSpPr>
        <p:spPr>
          <a:xfrm>
            <a:off x="10243597" y="5311734"/>
            <a:ext cx="16740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Parte 3 planilla trazabilidad Excel drive: Encargado de Calidad</a:t>
            </a:r>
          </a:p>
        </p:txBody>
      </p:sp>
      <p:sp>
        <p:nvSpPr>
          <p:cNvPr id="40" name="CuadroTexto 39"/>
          <p:cNvSpPr txBox="1"/>
          <p:nvPr/>
        </p:nvSpPr>
        <p:spPr>
          <a:xfrm>
            <a:off x="10246150" y="215395"/>
            <a:ext cx="167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/>
              <a:t>Registros:</a:t>
            </a:r>
          </a:p>
        </p:txBody>
      </p:sp>
      <p:sp>
        <p:nvSpPr>
          <p:cNvPr id="33" name="Rectángulo 32"/>
          <p:cNvSpPr/>
          <p:nvPr/>
        </p:nvSpPr>
        <p:spPr>
          <a:xfrm>
            <a:off x="2942270" y="1689656"/>
            <a:ext cx="6236682" cy="5822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Profesional Gestor de valor crítico</a:t>
            </a:r>
          </a:p>
        </p:txBody>
      </p:sp>
      <p:sp>
        <p:nvSpPr>
          <p:cNvPr id="34" name="CuadroTexto 33"/>
          <p:cNvSpPr txBox="1"/>
          <p:nvPr/>
        </p:nvSpPr>
        <p:spPr>
          <a:xfrm>
            <a:off x="2032423" y="2297173"/>
            <a:ext cx="933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Vía mail</a:t>
            </a:r>
          </a:p>
        </p:txBody>
      </p:sp>
      <p:cxnSp>
        <p:nvCxnSpPr>
          <p:cNvPr id="35" name="Conector recto de flecha 34"/>
          <p:cNvCxnSpPr/>
          <p:nvPr/>
        </p:nvCxnSpPr>
        <p:spPr>
          <a:xfrm>
            <a:off x="6053330" y="2284968"/>
            <a:ext cx="0" cy="3600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uadroTexto 41"/>
          <p:cNvSpPr txBox="1"/>
          <p:nvPr/>
        </p:nvSpPr>
        <p:spPr>
          <a:xfrm>
            <a:off x="2030976" y="3204949"/>
            <a:ext cx="1457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Vía telefónica</a:t>
            </a:r>
          </a:p>
        </p:txBody>
      </p:sp>
      <p:sp>
        <p:nvSpPr>
          <p:cNvPr id="32" name="Rectángulo 31"/>
          <p:cNvSpPr/>
          <p:nvPr/>
        </p:nvSpPr>
        <p:spPr>
          <a:xfrm>
            <a:off x="2926347" y="3522986"/>
            <a:ext cx="6236682" cy="561079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TENS Postas</a:t>
            </a:r>
          </a:p>
        </p:txBody>
      </p:sp>
      <p:cxnSp>
        <p:nvCxnSpPr>
          <p:cNvPr id="41" name="Conector recto de flecha 40"/>
          <p:cNvCxnSpPr/>
          <p:nvPr/>
        </p:nvCxnSpPr>
        <p:spPr>
          <a:xfrm flipH="1">
            <a:off x="3982019" y="4093828"/>
            <a:ext cx="6143" cy="3240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uadroTexto 42"/>
          <p:cNvSpPr txBox="1"/>
          <p:nvPr/>
        </p:nvSpPr>
        <p:spPr>
          <a:xfrm>
            <a:off x="2046079" y="4086325"/>
            <a:ext cx="1457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Vía telefónica</a:t>
            </a:r>
          </a:p>
        </p:txBody>
      </p:sp>
    </p:spTree>
    <p:extLst>
      <p:ext uri="{BB962C8B-B14F-4D97-AF65-F5344CB8AC3E}">
        <p14:creationId xmlns:p14="http://schemas.microsoft.com/office/powerpoint/2010/main" val="40046352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97041" y="-79076"/>
            <a:ext cx="10515600" cy="930134"/>
          </a:xfrm>
        </p:spPr>
        <p:txBody>
          <a:bodyPr>
            <a:normAutofit/>
          </a:bodyPr>
          <a:lstStyle/>
          <a:p>
            <a:r>
              <a:rPr lang="es-CL" sz="3600" dirty="0"/>
              <a:t>         Flujograma Valor crítico Eco abdominal</a:t>
            </a:r>
          </a:p>
        </p:txBody>
      </p:sp>
      <p:sp>
        <p:nvSpPr>
          <p:cNvPr id="4" name="Rectángulo 3"/>
          <p:cNvSpPr/>
          <p:nvPr/>
        </p:nvSpPr>
        <p:spPr>
          <a:xfrm>
            <a:off x="2919341" y="916035"/>
            <a:ext cx="6236682" cy="5822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Centro clínico</a:t>
            </a:r>
          </a:p>
        </p:txBody>
      </p:sp>
      <p:cxnSp>
        <p:nvCxnSpPr>
          <p:cNvPr id="6" name="Conector recto de flecha 5"/>
          <p:cNvCxnSpPr/>
          <p:nvPr/>
        </p:nvCxnSpPr>
        <p:spPr>
          <a:xfrm>
            <a:off x="6028552" y="1505783"/>
            <a:ext cx="0" cy="3600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/>
          <p:cNvSpPr txBox="1"/>
          <p:nvPr/>
        </p:nvSpPr>
        <p:spPr>
          <a:xfrm>
            <a:off x="2043813" y="1505783"/>
            <a:ext cx="986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Vía mail </a:t>
            </a:r>
          </a:p>
        </p:txBody>
      </p:sp>
      <p:sp>
        <p:nvSpPr>
          <p:cNvPr id="8" name="Rectángulo 7"/>
          <p:cNvSpPr/>
          <p:nvPr/>
        </p:nvSpPr>
        <p:spPr>
          <a:xfrm>
            <a:off x="2917599" y="2817512"/>
            <a:ext cx="1823216" cy="56107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TANS OIRS</a:t>
            </a:r>
          </a:p>
        </p:txBody>
      </p:sp>
      <p:cxnSp>
        <p:nvCxnSpPr>
          <p:cNvPr id="10" name="Conector recto de flecha 9"/>
          <p:cNvCxnSpPr/>
          <p:nvPr/>
        </p:nvCxnSpPr>
        <p:spPr>
          <a:xfrm flipH="1">
            <a:off x="8233721" y="2485486"/>
            <a:ext cx="6143" cy="36000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ángulo 11"/>
          <p:cNvSpPr/>
          <p:nvPr/>
        </p:nvSpPr>
        <p:spPr>
          <a:xfrm>
            <a:off x="2917492" y="3869867"/>
            <a:ext cx="2024743" cy="5822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Contacto con usuario/a</a:t>
            </a:r>
          </a:p>
        </p:txBody>
      </p:sp>
      <p:sp>
        <p:nvSpPr>
          <p:cNvPr id="14" name="Rectángulo 13"/>
          <p:cNvSpPr/>
          <p:nvPr/>
        </p:nvSpPr>
        <p:spPr>
          <a:xfrm>
            <a:off x="5730540" y="3892199"/>
            <a:ext cx="670561" cy="5296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NO</a:t>
            </a:r>
          </a:p>
        </p:txBody>
      </p:sp>
      <p:sp>
        <p:nvSpPr>
          <p:cNvPr id="15" name="Rectángulo 14"/>
          <p:cNvSpPr/>
          <p:nvPr/>
        </p:nvSpPr>
        <p:spPr>
          <a:xfrm>
            <a:off x="3596434" y="4855681"/>
            <a:ext cx="670561" cy="4255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SI</a:t>
            </a:r>
          </a:p>
        </p:txBody>
      </p:sp>
      <p:cxnSp>
        <p:nvCxnSpPr>
          <p:cNvPr id="17" name="Conector recto de flecha 16"/>
          <p:cNvCxnSpPr/>
          <p:nvPr/>
        </p:nvCxnSpPr>
        <p:spPr>
          <a:xfrm>
            <a:off x="5028494" y="4172887"/>
            <a:ext cx="602708" cy="122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de flecha 17"/>
          <p:cNvCxnSpPr/>
          <p:nvPr/>
        </p:nvCxnSpPr>
        <p:spPr>
          <a:xfrm>
            <a:off x="3931715" y="4491318"/>
            <a:ext cx="0" cy="3600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ángulo 19"/>
          <p:cNvSpPr/>
          <p:nvPr/>
        </p:nvSpPr>
        <p:spPr>
          <a:xfrm>
            <a:off x="7131283" y="3916653"/>
            <a:ext cx="2024743" cy="7613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dirty="0"/>
              <a:t>-3 llamadas/3 días</a:t>
            </a:r>
          </a:p>
          <a:p>
            <a:r>
              <a:rPr lang="es-CL" dirty="0"/>
              <a:t>-VDI rescate</a:t>
            </a:r>
          </a:p>
        </p:txBody>
      </p:sp>
      <p:cxnSp>
        <p:nvCxnSpPr>
          <p:cNvPr id="21" name="Conector recto de flecha 20"/>
          <p:cNvCxnSpPr/>
          <p:nvPr/>
        </p:nvCxnSpPr>
        <p:spPr>
          <a:xfrm>
            <a:off x="6470867" y="4174537"/>
            <a:ext cx="602708" cy="122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/>
          <p:cNvCxnSpPr/>
          <p:nvPr/>
        </p:nvCxnSpPr>
        <p:spPr>
          <a:xfrm>
            <a:off x="3923955" y="5349573"/>
            <a:ext cx="0" cy="3600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ángulo 22"/>
          <p:cNvSpPr/>
          <p:nvPr/>
        </p:nvSpPr>
        <p:spPr>
          <a:xfrm>
            <a:off x="2878502" y="5697500"/>
            <a:ext cx="3150050" cy="6943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Solicita hora atención médico morbilidad</a:t>
            </a:r>
          </a:p>
        </p:txBody>
      </p:sp>
      <p:cxnSp>
        <p:nvCxnSpPr>
          <p:cNvPr id="24" name="Conector recto de flecha 23"/>
          <p:cNvCxnSpPr/>
          <p:nvPr/>
        </p:nvCxnSpPr>
        <p:spPr>
          <a:xfrm flipV="1">
            <a:off x="6044089" y="6044689"/>
            <a:ext cx="1008000" cy="469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/>
          <p:cNvCxnSpPr/>
          <p:nvPr/>
        </p:nvCxnSpPr>
        <p:spPr>
          <a:xfrm flipH="1">
            <a:off x="4366193" y="4670719"/>
            <a:ext cx="2713513" cy="38427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Elipse 26"/>
          <p:cNvSpPr/>
          <p:nvPr/>
        </p:nvSpPr>
        <p:spPr>
          <a:xfrm>
            <a:off x="7119250" y="5750820"/>
            <a:ext cx="2657023" cy="627018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Atención efectiva</a:t>
            </a:r>
          </a:p>
        </p:txBody>
      </p:sp>
      <p:sp>
        <p:nvSpPr>
          <p:cNvPr id="28" name="CuadroTexto 27"/>
          <p:cNvSpPr txBox="1"/>
          <p:nvPr/>
        </p:nvSpPr>
        <p:spPr>
          <a:xfrm>
            <a:off x="952460" y="1469419"/>
            <a:ext cx="991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24 horas</a:t>
            </a:r>
          </a:p>
        </p:txBody>
      </p:sp>
      <p:sp>
        <p:nvSpPr>
          <p:cNvPr id="29" name="CuadroTexto 28"/>
          <p:cNvSpPr txBox="1"/>
          <p:nvPr/>
        </p:nvSpPr>
        <p:spPr>
          <a:xfrm>
            <a:off x="7915452" y="5371135"/>
            <a:ext cx="1447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 días hábiles</a:t>
            </a:r>
          </a:p>
        </p:txBody>
      </p:sp>
      <p:cxnSp>
        <p:nvCxnSpPr>
          <p:cNvPr id="36" name="Conector recto 35"/>
          <p:cNvCxnSpPr/>
          <p:nvPr/>
        </p:nvCxnSpPr>
        <p:spPr>
          <a:xfrm>
            <a:off x="10058400" y="0"/>
            <a:ext cx="28135" cy="685800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uadroTexto 36"/>
          <p:cNvSpPr txBox="1"/>
          <p:nvPr/>
        </p:nvSpPr>
        <p:spPr>
          <a:xfrm>
            <a:off x="10135682" y="1653855"/>
            <a:ext cx="16740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Parte 1 planilla trazabilidad Excel drive</a:t>
            </a:r>
          </a:p>
        </p:txBody>
      </p:sp>
      <p:sp>
        <p:nvSpPr>
          <p:cNvPr id="38" name="CuadroTexto 37"/>
          <p:cNvSpPr txBox="1"/>
          <p:nvPr/>
        </p:nvSpPr>
        <p:spPr>
          <a:xfrm>
            <a:off x="10136822" y="2705852"/>
            <a:ext cx="16740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Parte 2 planilla trazabilidad Excel drive</a:t>
            </a:r>
          </a:p>
        </p:txBody>
      </p:sp>
      <p:sp>
        <p:nvSpPr>
          <p:cNvPr id="39" name="CuadroTexto 38"/>
          <p:cNvSpPr txBox="1"/>
          <p:nvPr/>
        </p:nvSpPr>
        <p:spPr>
          <a:xfrm>
            <a:off x="10243597" y="5311734"/>
            <a:ext cx="16740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Parte 3 planilla trazabilidad Excel drive: Encargado de Calidad</a:t>
            </a:r>
          </a:p>
        </p:txBody>
      </p:sp>
      <p:sp>
        <p:nvSpPr>
          <p:cNvPr id="40" name="CuadroTexto 39"/>
          <p:cNvSpPr txBox="1"/>
          <p:nvPr/>
        </p:nvSpPr>
        <p:spPr>
          <a:xfrm>
            <a:off x="10246150" y="215395"/>
            <a:ext cx="167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/>
              <a:t>Registros:</a:t>
            </a:r>
          </a:p>
        </p:txBody>
      </p:sp>
      <p:sp>
        <p:nvSpPr>
          <p:cNvPr id="33" name="Rectángulo 32"/>
          <p:cNvSpPr/>
          <p:nvPr/>
        </p:nvSpPr>
        <p:spPr>
          <a:xfrm>
            <a:off x="2917492" y="1892884"/>
            <a:ext cx="6236682" cy="5822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Profesional Gestor de valor crítico</a:t>
            </a:r>
          </a:p>
        </p:txBody>
      </p:sp>
      <p:sp>
        <p:nvSpPr>
          <p:cNvPr id="34" name="CuadroTexto 33"/>
          <p:cNvSpPr txBox="1"/>
          <p:nvPr/>
        </p:nvSpPr>
        <p:spPr>
          <a:xfrm>
            <a:off x="2007645" y="2500401"/>
            <a:ext cx="933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Vía mail</a:t>
            </a:r>
          </a:p>
        </p:txBody>
      </p:sp>
      <p:cxnSp>
        <p:nvCxnSpPr>
          <p:cNvPr id="35" name="Conector recto de flecha 34"/>
          <p:cNvCxnSpPr/>
          <p:nvPr/>
        </p:nvCxnSpPr>
        <p:spPr>
          <a:xfrm>
            <a:off x="3929863" y="2475133"/>
            <a:ext cx="0" cy="3600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uadroTexto 41"/>
          <p:cNvSpPr txBox="1"/>
          <p:nvPr/>
        </p:nvSpPr>
        <p:spPr>
          <a:xfrm>
            <a:off x="2006198" y="3408177"/>
            <a:ext cx="1457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Vía telefónica</a:t>
            </a:r>
          </a:p>
        </p:txBody>
      </p:sp>
      <p:sp>
        <p:nvSpPr>
          <p:cNvPr id="32" name="Rectángulo 31"/>
          <p:cNvSpPr/>
          <p:nvPr/>
        </p:nvSpPr>
        <p:spPr>
          <a:xfrm>
            <a:off x="7337175" y="2827310"/>
            <a:ext cx="1795578" cy="561079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TENS Postas</a:t>
            </a:r>
          </a:p>
        </p:txBody>
      </p:sp>
      <p:cxnSp>
        <p:nvCxnSpPr>
          <p:cNvPr id="41" name="Conector recto de flecha 40"/>
          <p:cNvCxnSpPr/>
          <p:nvPr/>
        </p:nvCxnSpPr>
        <p:spPr>
          <a:xfrm flipH="1">
            <a:off x="3936217" y="3419176"/>
            <a:ext cx="6143" cy="4320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de flecha 43"/>
          <p:cNvCxnSpPr/>
          <p:nvPr/>
        </p:nvCxnSpPr>
        <p:spPr>
          <a:xfrm flipH="1">
            <a:off x="4600436" y="3425244"/>
            <a:ext cx="2713513" cy="384272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71927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97041" y="-79076"/>
            <a:ext cx="10515600" cy="930134"/>
          </a:xfrm>
        </p:spPr>
        <p:txBody>
          <a:bodyPr>
            <a:normAutofit fontScale="90000"/>
          </a:bodyPr>
          <a:lstStyle/>
          <a:p>
            <a:r>
              <a:rPr lang="es-CL" sz="3600" dirty="0"/>
              <a:t>         Flujograma Valor crítico mamografías y eco mamaria</a:t>
            </a:r>
          </a:p>
        </p:txBody>
      </p:sp>
      <p:sp>
        <p:nvSpPr>
          <p:cNvPr id="4" name="Rectángulo 3"/>
          <p:cNvSpPr/>
          <p:nvPr/>
        </p:nvSpPr>
        <p:spPr>
          <a:xfrm>
            <a:off x="2944119" y="712807"/>
            <a:ext cx="6236682" cy="5822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Centro clínico</a:t>
            </a:r>
          </a:p>
        </p:txBody>
      </p:sp>
      <p:cxnSp>
        <p:nvCxnSpPr>
          <p:cNvPr id="6" name="Conector recto de flecha 5"/>
          <p:cNvCxnSpPr/>
          <p:nvPr/>
        </p:nvCxnSpPr>
        <p:spPr>
          <a:xfrm>
            <a:off x="6053330" y="1302555"/>
            <a:ext cx="0" cy="4180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/>
          <p:cNvSpPr txBox="1"/>
          <p:nvPr/>
        </p:nvSpPr>
        <p:spPr>
          <a:xfrm>
            <a:off x="2068591" y="1302555"/>
            <a:ext cx="986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Vía mail </a:t>
            </a:r>
          </a:p>
        </p:txBody>
      </p:sp>
      <p:sp>
        <p:nvSpPr>
          <p:cNvPr id="8" name="Rectángulo 7"/>
          <p:cNvSpPr/>
          <p:nvPr/>
        </p:nvSpPr>
        <p:spPr>
          <a:xfrm>
            <a:off x="2942270" y="2782981"/>
            <a:ext cx="1897016" cy="56107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Matrona Sector Urbano</a:t>
            </a:r>
          </a:p>
        </p:txBody>
      </p:sp>
      <p:cxnSp>
        <p:nvCxnSpPr>
          <p:cNvPr id="10" name="Conector recto de flecha 9"/>
          <p:cNvCxnSpPr/>
          <p:nvPr/>
        </p:nvCxnSpPr>
        <p:spPr>
          <a:xfrm flipH="1">
            <a:off x="3964188" y="3381736"/>
            <a:ext cx="1" cy="52671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ángulo 11"/>
          <p:cNvSpPr/>
          <p:nvPr/>
        </p:nvSpPr>
        <p:spPr>
          <a:xfrm>
            <a:off x="2951818" y="3917396"/>
            <a:ext cx="2024743" cy="5822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Contacto con usuaria</a:t>
            </a:r>
          </a:p>
        </p:txBody>
      </p:sp>
      <p:sp>
        <p:nvSpPr>
          <p:cNvPr id="14" name="Rectángulo 13"/>
          <p:cNvSpPr/>
          <p:nvPr/>
        </p:nvSpPr>
        <p:spPr>
          <a:xfrm>
            <a:off x="5763015" y="3927833"/>
            <a:ext cx="670561" cy="5296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NO</a:t>
            </a:r>
          </a:p>
        </p:txBody>
      </p:sp>
      <p:sp>
        <p:nvSpPr>
          <p:cNvPr id="15" name="Rectángulo 14"/>
          <p:cNvSpPr/>
          <p:nvPr/>
        </p:nvSpPr>
        <p:spPr>
          <a:xfrm>
            <a:off x="3628909" y="4969693"/>
            <a:ext cx="670561" cy="5296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SI</a:t>
            </a:r>
          </a:p>
        </p:txBody>
      </p:sp>
      <p:cxnSp>
        <p:nvCxnSpPr>
          <p:cNvPr id="17" name="Conector recto de flecha 16"/>
          <p:cNvCxnSpPr/>
          <p:nvPr/>
        </p:nvCxnSpPr>
        <p:spPr>
          <a:xfrm>
            <a:off x="5060969" y="4208521"/>
            <a:ext cx="602708" cy="122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de flecha 17"/>
          <p:cNvCxnSpPr/>
          <p:nvPr/>
        </p:nvCxnSpPr>
        <p:spPr>
          <a:xfrm>
            <a:off x="3964190" y="4526952"/>
            <a:ext cx="0" cy="4180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ángulo 19"/>
          <p:cNvSpPr/>
          <p:nvPr/>
        </p:nvSpPr>
        <p:spPr>
          <a:xfrm>
            <a:off x="7163758" y="3952287"/>
            <a:ext cx="2024743" cy="7613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dirty="0"/>
              <a:t>-3 llamadas/3 días</a:t>
            </a:r>
          </a:p>
          <a:p>
            <a:r>
              <a:rPr lang="es-CL" dirty="0"/>
              <a:t>-VDI rescate</a:t>
            </a:r>
          </a:p>
        </p:txBody>
      </p:sp>
      <p:cxnSp>
        <p:nvCxnSpPr>
          <p:cNvPr id="21" name="Conector recto de flecha 20"/>
          <p:cNvCxnSpPr/>
          <p:nvPr/>
        </p:nvCxnSpPr>
        <p:spPr>
          <a:xfrm>
            <a:off x="6503342" y="4210171"/>
            <a:ext cx="602708" cy="122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/>
          <p:cNvCxnSpPr/>
          <p:nvPr/>
        </p:nvCxnSpPr>
        <p:spPr>
          <a:xfrm>
            <a:off x="3983606" y="5499301"/>
            <a:ext cx="0" cy="4180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ángulo 22"/>
          <p:cNvSpPr/>
          <p:nvPr/>
        </p:nvSpPr>
        <p:spPr>
          <a:xfrm>
            <a:off x="2899849" y="5881276"/>
            <a:ext cx="3150050" cy="8490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Solicita hora atención con matrona</a:t>
            </a:r>
          </a:p>
        </p:txBody>
      </p:sp>
      <p:cxnSp>
        <p:nvCxnSpPr>
          <p:cNvPr id="24" name="Conector recto de flecha 23"/>
          <p:cNvCxnSpPr/>
          <p:nvPr/>
        </p:nvCxnSpPr>
        <p:spPr>
          <a:xfrm flipV="1">
            <a:off x="6093481" y="6223793"/>
            <a:ext cx="1008000" cy="469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/>
          <p:cNvCxnSpPr/>
          <p:nvPr/>
        </p:nvCxnSpPr>
        <p:spPr>
          <a:xfrm flipH="1">
            <a:off x="4433781" y="4706353"/>
            <a:ext cx="2678400" cy="43182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Elipse 26"/>
          <p:cNvSpPr/>
          <p:nvPr/>
        </p:nvSpPr>
        <p:spPr>
          <a:xfrm>
            <a:off x="7173974" y="5910284"/>
            <a:ext cx="2657023" cy="627018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Atención efectiva</a:t>
            </a:r>
          </a:p>
        </p:txBody>
      </p:sp>
      <p:sp>
        <p:nvSpPr>
          <p:cNvPr id="28" name="CuadroTexto 27"/>
          <p:cNvSpPr txBox="1"/>
          <p:nvPr/>
        </p:nvSpPr>
        <p:spPr>
          <a:xfrm>
            <a:off x="977238" y="1266191"/>
            <a:ext cx="991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24 horas</a:t>
            </a:r>
          </a:p>
        </p:txBody>
      </p:sp>
      <p:sp>
        <p:nvSpPr>
          <p:cNvPr id="29" name="CuadroTexto 28"/>
          <p:cNvSpPr txBox="1"/>
          <p:nvPr/>
        </p:nvSpPr>
        <p:spPr>
          <a:xfrm>
            <a:off x="7962040" y="5351044"/>
            <a:ext cx="1447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 días hábiles</a:t>
            </a:r>
          </a:p>
        </p:txBody>
      </p:sp>
      <p:cxnSp>
        <p:nvCxnSpPr>
          <p:cNvPr id="36" name="Conector recto 35"/>
          <p:cNvCxnSpPr/>
          <p:nvPr/>
        </p:nvCxnSpPr>
        <p:spPr>
          <a:xfrm>
            <a:off x="10058400" y="0"/>
            <a:ext cx="28135" cy="685800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uadroTexto 36"/>
          <p:cNvSpPr txBox="1"/>
          <p:nvPr/>
        </p:nvSpPr>
        <p:spPr>
          <a:xfrm>
            <a:off x="10143233" y="1635523"/>
            <a:ext cx="16740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Parte 1 planilla trazabilidad Excel drive</a:t>
            </a:r>
          </a:p>
        </p:txBody>
      </p:sp>
      <p:sp>
        <p:nvSpPr>
          <p:cNvPr id="38" name="CuadroTexto 37"/>
          <p:cNvSpPr txBox="1"/>
          <p:nvPr/>
        </p:nvSpPr>
        <p:spPr>
          <a:xfrm>
            <a:off x="10161832" y="2737364"/>
            <a:ext cx="16740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Parte 2 planilla trazabilidad Excel drive</a:t>
            </a:r>
          </a:p>
        </p:txBody>
      </p:sp>
      <p:sp>
        <p:nvSpPr>
          <p:cNvPr id="39" name="CuadroTexto 38"/>
          <p:cNvSpPr txBox="1"/>
          <p:nvPr/>
        </p:nvSpPr>
        <p:spPr>
          <a:xfrm>
            <a:off x="10242886" y="5351044"/>
            <a:ext cx="16740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Parte 3 planilla trazabilidad Excel drive: Encargado de Calidad</a:t>
            </a:r>
          </a:p>
        </p:txBody>
      </p:sp>
      <p:sp>
        <p:nvSpPr>
          <p:cNvPr id="40" name="CuadroTexto 39"/>
          <p:cNvSpPr txBox="1"/>
          <p:nvPr/>
        </p:nvSpPr>
        <p:spPr>
          <a:xfrm>
            <a:off x="10246150" y="215395"/>
            <a:ext cx="167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/>
              <a:t>Registros:</a:t>
            </a:r>
          </a:p>
        </p:txBody>
      </p:sp>
      <p:sp>
        <p:nvSpPr>
          <p:cNvPr id="33" name="Rectángulo 32"/>
          <p:cNvSpPr/>
          <p:nvPr/>
        </p:nvSpPr>
        <p:spPr>
          <a:xfrm>
            <a:off x="2942270" y="1754971"/>
            <a:ext cx="6236682" cy="5822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Profesional Gestor de valor crítico</a:t>
            </a:r>
          </a:p>
        </p:txBody>
      </p:sp>
      <p:sp>
        <p:nvSpPr>
          <p:cNvPr id="34" name="CuadroTexto 33"/>
          <p:cNvSpPr txBox="1"/>
          <p:nvPr/>
        </p:nvSpPr>
        <p:spPr>
          <a:xfrm>
            <a:off x="888202" y="2375973"/>
            <a:ext cx="2555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Vía presencial/ telefónica</a:t>
            </a:r>
          </a:p>
        </p:txBody>
      </p:sp>
      <p:cxnSp>
        <p:nvCxnSpPr>
          <p:cNvPr id="35" name="Conector recto de flecha 34"/>
          <p:cNvCxnSpPr/>
          <p:nvPr/>
        </p:nvCxnSpPr>
        <p:spPr>
          <a:xfrm>
            <a:off x="3983606" y="2319352"/>
            <a:ext cx="0" cy="4180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uadroTexto 41"/>
          <p:cNvSpPr txBox="1"/>
          <p:nvPr/>
        </p:nvSpPr>
        <p:spPr>
          <a:xfrm>
            <a:off x="1623974" y="3466287"/>
            <a:ext cx="1457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Vía telefónica</a:t>
            </a:r>
          </a:p>
        </p:txBody>
      </p:sp>
      <p:sp>
        <p:nvSpPr>
          <p:cNvPr id="31" name="Rectángulo 30"/>
          <p:cNvSpPr/>
          <p:nvPr/>
        </p:nvSpPr>
        <p:spPr>
          <a:xfrm>
            <a:off x="7230245" y="2792902"/>
            <a:ext cx="1897016" cy="56107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TENS Postas</a:t>
            </a:r>
          </a:p>
        </p:txBody>
      </p:sp>
      <p:cxnSp>
        <p:nvCxnSpPr>
          <p:cNvPr id="32" name="Conector recto de flecha 31"/>
          <p:cNvCxnSpPr/>
          <p:nvPr/>
        </p:nvCxnSpPr>
        <p:spPr>
          <a:xfrm flipH="1">
            <a:off x="4514197" y="3353009"/>
            <a:ext cx="2678400" cy="43182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de flecha 40"/>
          <p:cNvCxnSpPr/>
          <p:nvPr/>
        </p:nvCxnSpPr>
        <p:spPr>
          <a:xfrm>
            <a:off x="8128476" y="2351906"/>
            <a:ext cx="0" cy="418012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238687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914</Words>
  <Application>Microsoft Office PowerPoint</Application>
  <PresentationFormat>Panorámica</PresentationFormat>
  <Paragraphs>248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Tema de Office</vt:lpstr>
      <vt:lpstr>Flujograma de protocolo valor crítico</vt:lpstr>
      <vt:lpstr>Valores críticos laboratorio</vt:lpstr>
      <vt:lpstr>Valores críticos PAP</vt:lpstr>
      <vt:lpstr>Valores críticos imágenes diagnósticas</vt:lpstr>
      <vt:lpstr>         Flujograma Valor crítico laboratorio</vt:lpstr>
      <vt:lpstr>         Flujograma Valor crítico PAP</vt:lpstr>
      <vt:lpstr>         Flujograma Valor crítico Rx de tórax</vt:lpstr>
      <vt:lpstr>         Flujograma Valor crítico Rx de Pelvis CESFAM</vt:lpstr>
      <vt:lpstr>         Flujograma Valor crítico Rx de Pelvis Postas</vt:lpstr>
      <vt:lpstr>         Flujograma Valor crítico Eco abdominal</vt:lpstr>
      <vt:lpstr>         Flujograma Valor crítico mamografías y eco mamaria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Flujograma de protocolo valor crítico</dc:title>
  <dc:creator>cristian cárdenas</dc:creator>
  <cp:lastModifiedBy>Cristian Cardenas Espinoza</cp:lastModifiedBy>
  <cp:revision>11</cp:revision>
  <dcterms:created xsi:type="dcterms:W3CDTF">2024-02-24T20:16:05Z</dcterms:created>
  <dcterms:modified xsi:type="dcterms:W3CDTF">2025-12-18T20:54:05Z</dcterms:modified>
</cp:coreProperties>
</file>